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7F"/>
        </a:solidFill>
      </p:bgPr>
    </p:bg>
    <p:spTree>
      <p:nvGrpSpPr>
        <p:cNvPr id="1" name=""/>
        <p:cNvGrpSpPr/>
        <p:nvPr/>
      </p:nvGrpSpPr>
      <p:grpSpPr>
        <a:xfrm>
          <a:off x="0" y="0"/>
          <a:ext cx="0" cy="0"/>
          <a:chOff x="0" y="0"/>
          <a:chExt cx="0" cy="0"/>
        </a:xfrm>
      </p:grpSpPr>
      <p:pic>
        <p:nvPicPr>
          <p:cNvPr id="2" name="Image 0" descr="D:\Claude Code\App So Cong tac\public\sotheodoi\logo-slogan.png">    </p:cNvPr>
          <p:cNvPicPr>
            <a:picLocks noChangeAspect="1"/>
          </p:cNvPicPr>
          <p:nvPr/>
        </p:nvPicPr>
        <p:blipFill>
          <a:blip r:embed="rId1"/>
          <a:stretch>
            <a:fillRect/>
          </a:stretch>
        </p:blipFill>
        <p:spPr>
          <a:xfrm>
            <a:off x="640080" y="548640"/>
            <a:ext cx="2011680" cy="804672"/>
          </a:xfrm>
          <a:prstGeom prst="rect">
            <a:avLst/>
          </a:prstGeom>
        </p:spPr>
      </p:pic>
      <p:sp>
        <p:nvSpPr>
          <p:cNvPr id="3" name="Text 0"/>
          <p:cNvSpPr txBox="1"/>
          <p:nvPr/>
        </p:nvSpPr>
        <p:spPr>
          <a:xfrm>
            <a:off x="640080" y="1554480"/>
            <a:ext cx="7863840" cy="365760"/>
          </a:xfrm>
          <a:prstGeom prst="rect">
            <a:avLst/>
          </a:prstGeom>
          <a:noFill/>
          <a:ln/>
        </p:spPr>
        <p:txBody>
          <a:bodyPr wrap="square" lIns="0" tIns="0" rIns="0" bIns="0" rtlCol="0" anchor="ctr"/>
          <a:lstStyle/>
          <a:p>
            <a:pPr indent="0" marL="0">
              <a:buNone/>
            </a:pPr>
            <a:r>
              <a:rPr lang="en-US" sz="1300" b="1" spc="200" kern="0" dirty="0">
                <a:solidFill>
                  <a:srgbClr val="FF2A54"/>
                </a:solidFill>
                <a:latin typeface="Arial" pitchFamily="34" charset="0"/>
                <a:ea typeface="Arial" pitchFamily="34" charset="-122"/>
                <a:cs typeface="Arial" pitchFamily="34" charset="-120"/>
              </a:rPr>
              <a:t>HỆ THỐNG QUẢN LÝ ĐIỀU HÀNH HAST</a:t>
            </a:r>
            <a:endParaRPr lang="en-US" sz="1300" dirty="0"/>
          </a:p>
        </p:txBody>
      </p:sp>
      <p:sp>
        <p:nvSpPr>
          <p:cNvPr id="4" name="Text 1"/>
          <p:cNvSpPr txBox="1"/>
          <p:nvPr/>
        </p:nvSpPr>
        <p:spPr>
          <a:xfrm>
            <a:off x="640080" y="1965960"/>
            <a:ext cx="7863840" cy="7315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SỔ CÔNG TÁC &amp; VẬN HÀNH KHO BÃI</a:t>
            </a:r>
            <a:endParaRPr lang="en-US" sz="2800" dirty="0"/>
          </a:p>
        </p:txBody>
      </p:sp>
      <p:sp>
        <p:nvSpPr>
          <p:cNvPr id="5" name="Text 2"/>
          <p:cNvSpPr txBox="1"/>
          <p:nvPr/>
        </p:nvSpPr>
        <p:spPr>
          <a:xfrm>
            <a:off x="640080" y="2697480"/>
            <a:ext cx="7863840" cy="365760"/>
          </a:xfrm>
          <a:prstGeom prst="rect">
            <a:avLst/>
          </a:prstGeom>
          <a:noFill/>
          <a:ln/>
        </p:spPr>
        <p:txBody>
          <a:bodyPr wrap="square" lIns="0" tIns="0" rIns="0" bIns="0" rtlCol="0" anchor="ctr"/>
          <a:lstStyle/>
          <a:p>
            <a:pPr indent="0" marL="0">
              <a:buNone/>
            </a:pPr>
            <a:r>
              <a:rPr lang="en-US" sz="1300" dirty="0">
                <a:solidFill>
                  <a:srgbClr val="93C5FD"/>
                </a:solidFill>
                <a:latin typeface="Calibri" pitchFamily="34" charset="0"/>
                <a:ea typeface="Calibri" pitchFamily="34" charset="-122"/>
                <a:cs typeface="Calibri" pitchFamily="34" charset="-120"/>
              </a:rPr>
              <a:t>CẨM NANG HƯỚNG DẪN SỬ DỤNG VÀ BỨC TRANH NGHIỆP VỤ TOÀN DIỆN</a:t>
            </a:r>
            <a:endParaRPr lang="en-US" sz="1300" dirty="0"/>
          </a:p>
        </p:txBody>
      </p:sp>
      <p:sp>
        <p:nvSpPr>
          <p:cNvPr id="6" name="Shape 3"/>
          <p:cNvSpPr/>
          <p:nvPr/>
        </p:nvSpPr>
        <p:spPr>
          <a:xfrm>
            <a:off x="640080" y="3337560"/>
            <a:ext cx="2377440" cy="347472"/>
          </a:xfrm>
          <a:prstGeom prst="roundRect">
            <a:avLst>
              <a:gd name="adj" fmla="val 21053"/>
            </a:avLst>
          </a:prstGeom>
          <a:solidFill>
            <a:srgbClr val="0A2558"/>
          </a:solidFill>
          <a:ln w="12700">
            <a:solidFill>
              <a:srgbClr val="1E40AF"/>
            </a:solidFill>
            <a:prstDash val="solid"/>
          </a:ln>
        </p:spPr>
      </p:sp>
      <p:sp>
        <p:nvSpPr>
          <p:cNvPr id="7" name="Text 4"/>
          <p:cNvSpPr txBox="1"/>
          <p:nvPr/>
        </p:nvSpPr>
        <p:spPr>
          <a:xfrm>
            <a:off x="640080" y="3337560"/>
            <a:ext cx="23774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Sổ công tác &amp; KTV Mobile</a:t>
            </a:r>
            <a:endParaRPr lang="en-US" sz="1000" dirty="0"/>
          </a:p>
        </p:txBody>
      </p:sp>
      <p:sp>
        <p:nvSpPr>
          <p:cNvPr id="8" name="Shape 5"/>
          <p:cNvSpPr/>
          <p:nvPr/>
        </p:nvSpPr>
        <p:spPr>
          <a:xfrm>
            <a:off x="3200400" y="3337560"/>
            <a:ext cx="2377440" cy="347472"/>
          </a:xfrm>
          <a:prstGeom prst="roundRect">
            <a:avLst>
              <a:gd name="adj" fmla="val 21053"/>
            </a:avLst>
          </a:prstGeom>
          <a:solidFill>
            <a:srgbClr val="0A2558"/>
          </a:solidFill>
          <a:ln w="12700">
            <a:solidFill>
              <a:srgbClr val="1E40AF"/>
            </a:solidFill>
            <a:prstDash val="solid"/>
          </a:ln>
        </p:spPr>
      </p:sp>
      <p:sp>
        <p:nvSpPr>
          <p:cNvPr id="9" name="Text 6"/>
          <p:cNvSpPr txBox="1"/>
          <p:nvPr/>
        </p:nvSpPr>
        <p:spPr>
          <a:xfrm>
            <a:off x="3200400" y="3337560"/>
            <a:ext cx="23774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Quản lý kho &amp; Đặt hàng PO</a:t>
            </a:r>
            <a:endParaRPr lang="en-US" sz="1000" dirty="0"/>
          </a:p>
        </p:txBody>
      </p:sp>
      <p:sp>
        <p:nvSpPr>
          <p:cNvPr id="10" name="Shape 7"/>
          <p:cNvSpPr/>
          <p:nvPr/>
        </p:nvSpPr>
        <p:spPr>
          <a:xfrm>
            <a:off x="5760720" y="3337560"/>
            <a:ext cx="2377440" cy="347472"/>
          </a:xfrm>
          <a:prstGeom prst="roundRect">
            <a:avLst>
              <a:gd name="adj" fmla="val 21053"/>
            </a:avLst>
          </a:prstGeom>
          <a:solidFill>
            <a:srgbClr val="0A2558"/>
          </a:solidFill>
          <a:ln w="12700">
            <a:solidFill>
              <a:srgbClr val="1E40AF"/>
            </a:solidFill>
            <a:prstDash val="solid"/>
          </a:ln>
        </p:spPr>
      </p:sp>
      <p:sp>
        <p:nvSpPr>
          <p:cNvPr id="11" name="Text 8"/>
          <p:cNvSpPr txBox="1"/>
          <p:nvPr/>
        </p:nvSpPr>
        <p:spPr>
          <a:xfrm>
            <a:off x="5760720" y="3337560"/>
            <a:ext cx="23774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Tài chính Kanban &amp; M-invoice</a:t>
            </a:r>
            <a:endParaRPr lang="en-US" sz="1000" dirty="0"/>
          </a:p>
        </p:txBody>
      </p:sp>
      <p:sp>
        <p:nvSpPr>
          <p:cNvPr id="12" name="Text 9"/>
          <p:cNvSpPr txBox="1"/>
          <p:nvPr/>
        </p:nvSpPr>
        <p:spPr>
          <a:xfrm>
            <a:off x="640080" y="4434840"/>
            <a:ext cx="786384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dịch vụ kỹ thuật máy photocopy HAST · Phiên bản Production 2026 · Phát hành nội bộ</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3657600" cy="228600"/>
          </a:xfrm>
          <a:prstGeom prst="rect">
            <a:avLst/>
          </a:prstGeom>
          <a:noFill/>
          <a:ln/>
        </p:spPr>
        <p:txBody>
          <a:bodyPr wrap="square" lIns="0" tIns="0" rIns="0" bIns="0" rtlCol="0" anchor="ctr"/>
          <a:lstStyle/>
          <a:p>
            <a:pPr indent="0" marL="0">
              <a:buNone/>
            </a:pPr>
            <a:r>
              <a:rPr lang="en-US" sz="900" b="1" dirty="0">
                <a:solidFill>
                  <a:srgbClr val="E11D48"/>
                </a:solidFill>
                <a:latin typeface="Arial" pitchFamily="34" charset="0"/>
                <a:ea typeface="Arial" pitchFamily="34" charset="-122"/>
                <a:cs typeface="Arial" pitchFamily="34" charset="-120"/>
              </a:rPr>
              <a:t>TỔNG QUAN HỆ THỐNG</a:t>
            </a:r>
            <a:endParaRPr lang="en-US" sz="90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700" b="1" dirty="0">
                <a:solidFill>
                  <a:srgbClr val="002B7F"/>
                </a:solidFill>
                <a:latin typeface="Arial" pitchFamily="34" charset="0"/>
                <a:ea typeface="Arial" pitchFamily="34" charset="-122"/>
                <a:cs typeface="Arial" pitchFamily="34" charset="-120"/>
              </a:rPr>
              <a:t>BỨC TRANH TOÀN CẢNH — DÒNG CHẢY NGHIỆP VỤ KHÉP KÍN</a:t>
            </a:r>
            <a:endParaRPr lang="en-US" sz="1700" dirty="0"/>
          </a:p>
        </p:txBody>
      </p:sp>
      <p:sp>
        <p:nvSpPr>
          <p:cNvPr id="4" name="Shape 2"/>
          <p:cNvSpPr/>
          <p:nvPr/>
        </p:nvSpPr>
        <p:spPr>
          <a:xfrm>
            <a:off x="6949440" y="411480"/>
            <a:ext cx="164592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949440" y="411480"/>
            <a:ext cx="16459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TOÀN CÔNG TY</a:t>
            </a:r>
            <a:endParaRPr lang="en-US" sz="900" dirty="0"/>
          </a:p>
        </p:txBody>
      </p:sp>
      <p:pic>
        <p:nvPicPr>
          <p:cNvPr id="6" name="Image 0" descr="D:\Claude Code\App So Cong tac\scripts\pptx-assets\workflow-overview.png">    </p:cNvPr>
          <p:cNvPicPr>
            <a:picLocks noChangeAspect="1"/>
          </p:cNvPicPr>
          <p:nvPr/>
        </p:nvPicPr>
        <p:blipFill>
          <a:blip r:embed="rId1"/>
          <a:stretch>
            <a:fillRect/>
          </a:stretch>
        </p:blipFill>
        <p:spPr>
          <a:xfrm>
            <a:off x="548640" y="1051560"/>
            <a:ext cx="4937760" cy="2468880"/>
          </a:xfrm>
          <a:prstGeom prst="rect">
            <a:avLst/>
          </a:prstGeom>
        </p:spPr>
      </p:pic>
      <p:sp>
        <p:nvSpPr>
          <p:cNvPr id="7" name="Shape 4"/>
          <p:cNvSpPr/>
          <p:nvPr/>
        </p:nvSpPr>
        <p:spPr>
          <a:xfrm>
            <a:off x="5669280" y="1051560"/>
            <a:ext cx="2926080" cy="731520"/>
          </a:xfrm>
          <a:prstGeom prst="roundRect">
            <a:avLst>
              <a:gd name="adj" fmla="val 10000"/>
            </a:avLst>
          </a:prstGeom>
          <a:solidFill>
            <a:srgbClr val="FFFFFF"/>
          </a:solidFill>
          <a:ln w="12700">
            <a:solidFill>
              <a:srgbClr val="E2E8F0"/>
            </a:solidFill>
            <a:prstDash val="solid"/>
          </a:ln>
        </p:spPr>
      </p:sp>
      <p:sp>
        <p:nvSpPr>
          <p:cNvPr id="8" name="Text 5"/>
          <p:cNvSpPr txBox="1"/>
          <p:nvPr/>
        </p:nvSpPr>
        <p:spPr>
          <a:xfrm>
            <a:off x="5806440" y="1124712"/>
            <a:ext cx="2651760" cy="201168"/>
          </a:xfrm>
          <a:prstGeom prst="rect">
            <a:avLst/>
          </a:prstGeom>
          <a:noFill/>
          <a:ln/>
        </p:spPr>
        <p:txBody>
          <a:bodyPr wrap="square" lIns="0" tIns="0" rIns="0" bIns="0" rtlCol="0" anchor="ctr"/>
          <a:lstStyle/>
          <a:p>
            <a:pPr indent="0" marL="0">
              <a:buNone/>
            </a:pPr>
            <a:r>
              <a:rPr lang="en-US" sz="1000" b="1" dirty="0">
                <a:solidFill>
                  <a:srgbClr val="0047AB"/>
                </a:solidFill>
                <a:latin typeface="Arial" pitchFamily="34" charset="0"/>
                <a:ea typeface="Arial" pitchFamily="34" charset="-122"/>
                <a:cs typeface="Arial" pitchFamily="34" charset="-120"/>
              </a:rPr>
              <a:t>1. Liên thông dữ liệu tức thì (Realtime)</a:t>
            </a:r>
            <a:endParaRPr lang="en-US" sz="1000" dirty="0"/>
          </a:p>
        </p:txBody>
      </p:sp>
      <p:sp>
        <p:nvSpPr>
          <p:cNvPr id="9" name="Text 6"/>
          <p:cNvSpPr txBox="1"/>
          <p:nvPr/>
        </p:nvSpPr>
        <p:spPr>
          <a:xfrm>
            <a:off x="5806440" y="1325880"/>
            <a:ext cx="26517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Supabase Broadcast đồng bộ mọi thay đổi trạng thái phiếu từ KTV ngoài hiện trường về màn hình Office và Telegram mà không cần tải lại trang.</a:t>
            </a:r>
            <a:endParaRPr lang="en-US" sz="850" dirty="0"/>
          </a:p>
        </p:txBody>
      </p:sp>
      <p:sp>
        <p:nvSpPr>
          <p:cNvPr id="10" name="Shape 7"/>
          <p:cNvSpPr/>
          <p:nvPr/>
        </p:nvSpPr>
        <p:spPr>
          <a:xfrm>
            <a:off x="5669280" y="1874520"/>
            <a:ext cx="2926080" cy="731520"/>
          </a:xfrm>
          <a:prstGeom prst="roundRect">
            <a:avLst>
              <a:gd name="adj" fmla="val 10000"/>
            </a:avLst>
          </a:prstGeom>
          <a:solidFill>
            <a:srgbClr val="FFFFFF"/>
          </a:solidFill>
          <a:ln w="12700">
            <a:solidFill>
              <a:srgbClr val="E2E8F0"/>
            </a:solidFill>
            <a:prstDash val="solid"/>
          </a:ln>
        </p:spPr>
      </p:sp>
      <p:sp>
        <p:nvSpPr>
          <p:cNvPr id="11" name="Text 8"/>
          <p:cNvSpPr txBox="1"/>
          <p:nvPr/>
        </p:nvSpPr>
        <p:spPr>
          <a:xfrm>
            <a:off x="5806440" y="1947672"/>
            <a:ext cx="2651760" cy="201168"/>
          </a:xfrm>
          <a:prstGeom prst="rect">
            <a:avLst/>
          </a:prstGeom>
          <a:noFill/>
          <a:ln/>
        </p:spPr>
        <p:txBody>
          <a:bodyPr wrap="square" lIns="0" tIns="0" rIns="0" bIns="0" rtlCol="0" anchor="ctr"/>
          <a:lstStyle/>
          <a:p>
            <a:pPr indent="0" marL="0">
              <a:buNone/>
            </a:pPr>
            <a:r>
              <a:rPr lang="en-US" sz="1000" b="1" dirty="0">
                <a:solidFill>
                  <a:srgbClr val="E11D48"/>
                </a:solidFill>
                <a:latin typeface="Arial" pitchFamily="34" charset="0"/>
                <a:ea typeface="Arial" pitchFamily="34" charset="-122"/>
                <a:cs typeface="Arial" pitchFamily="34" charset="-120"/>
              </a:rPr>
              <a:t>2. Tự động hóa trừ kho &amp; khóa giá</a:t>
            </a:r>
            <a:endParaRPr lang="en-US" sz="1000" dirty="0"/>
          </a:p>
        </p:txBody>
      </p:sp>
      <p:sp>
        <p:nvSpPr>
          <p:cNvPr id="12" name="Text 9"/>
          <p:cNvSpPr txBox="1"/>
          <p:nvPr/>
        </p:nvSpPr>
        <p:spPr>
          <a:xfrm>
            <a:off x="5806440" y="2148840"/>
            <a:ext cx="26517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Trigger Database phản ứng chỉ trừ kho khi phiếu Hoàn thành. Khi bàn giao sang Kế toán, toàn bộ tên và giá vật tư được khóa chặt chẽ.</a:t>
            </a:r>
            <a:endParaRPr lang="en-US" sz="850" dirty="0"/>
          </a:p>
        </p:txBody>
      </p:sp>
      <p:sp>
        <p:nvSpPr>
          <p:cNvPr id="13" name="Shape 10"/>
          <p:cNvSpPr/>
          <p:nvPr/>
        </p:nvSpPr>
        <p:spPr>
          <a:xfrm>
            <a:off x="5669280" y="2697480"/>
            <a:ext cx="2926080" cy="731520"/>
          </a:xfrm>
          <a:prstGeom prst="roundRect">
            <a:avLst>
              <a:gd name="adj" fmla="val 10000"/>
            </a:avLst>
          </a:prstGeom>
          <a:solidFill>
            <a:srgbClr val="FFFFFF"/>
          </a:solidFill>
          <a:ln w="12700">
            <a:solidFill>
              <a:srgbClr val="E2E8F0"/>
            </a:solidFill>
            <a:prstDash val="solid"/>
          </a:ln>
        </p:spPr>
      </p:sp>
      <p:sp>
        <p:nvSpPr>
          <p:cNvPr id="14" name="Text 11"/>
          <p:cNvSpPr txBox="1"/>
          <p:nvPr/>
        </p:nvSpPr>
        <p:spPr>
          <a:xfrm>
            <a:off x="5806440" y="2770632"/>
            <a:ext cx="2651760" cy="201168"/>
          </a:xfrm>
          <a:prstGeom prst="rect">
            <a:avLst/>
          </a:prstGeom>
          <a:noFill/>
          <a:ln/>
        </p:spPr>
        <p:txBody>
          <a:bodyPr wrap="square" lIns="0" tIns="0" rIns="0" bIns="0" rtlCol="0" anchor="ctr"/>
          <a:lstStyle/>
          <a:p>
            <a:pPr indent="0" marL="0">
              <a:buNone/>
            </a:pPr>
            <a:r>
              <a:rPr lang="en-US" sz="1000" b="1" dirty="0">
                <a:solidFill>
                  <a:srgbClr val="059669"/>
                </a:solidFill>
                <a:latin typeface="Arial" pitchFamily="34" charset="0"/>
                <a:ea typeface="Arial" pitchFamily="34" charset="-122"/>
                <a:cs typeface="Arial" pitchFamily="34" charset="-120"/>
              </a:rPr>
              <a:t>3. Kiểm soát công nợ &amp; hóa đơn khép kín</a:t>
            </a:r>
            <a:endParaRPr lang="en-US" sz="1000" dirty="0"/>
          </a:p>
        </p:txBody>
      </p:sp>
      <p:sp>
        <p:nvSpPr>
          <p:cNvPr id="15" name="Text 12"/>
          <p:cNvSpPr txBox="1"/>
          <p:nvPr/>
        </p:nvSpPr>
        <p:spPr>
          <a:xfrm>
            <a:off x="5806440" y="2971800"/>
            <a:ext cx="26517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Kanban 4 cột đưa dữ liệu thẳng vào file Excel M-invoice 32 cột, tự động xuất BBBG, ĐNTT và cảnh báo tuổi nợ đọng trên 30 ngày.</a:t>
            </a:r>
            <a:endParaRPr lang="en-US" sz="850" dirty="0"/>
          </a:p>
        </p:txBody>
      </p:sp>
      <p:sp>
        <p:nvSpPr>
          <p:cNvPr id="16" name="Shape 13"/>
          <p:cNvSpPr/>
          <p:nvPr/>
        </p:nvSpPr>
        <p:spPr>
          <a:xfrm>
            <a:off x="548640" y="3703320"/>
            <a:ext cx="8046720" cy="868680"/>
          </a:xfrm>
          <a:prstGeom prst="roundRect">
            <a:avLst>
              <a:gd name="adj" fmla="val 8421"/>
            </a:avLst>
          </a:prstGeom>
          <a:solidFill>
            <a:srgbClr val="EFF6FF"/>
          </a:solidFill>
          <a:ln w="12700">
            <a:solidFill>
              <a:srgbClr val="BFDBFE"/>
            </a:solidFill>
            <a:prstDash val="solid"/>
          </a:ln>
        </p:spPr>
      </p:sp>
      <p:sp>
        <p:nvSpPr>
          <p:cNvPr id="17" name="Text 14"/>
          <p:cNvSpPr txBox="1"/>
          <p:nvPr/>
        </p:nvSpPr>
        <p:spPr>
          <a:xfrm>
            <a:off x="731520" y="3794760"/>
            <a:ext cx="7680960" cy="201168"/>
          </a:xfrm>
          <a:prstGeom prst="rect">
            <a:avLst/>
          </a:prstGeom>
          <a:noFill/>
          <a:ln/>
        </p:spPr>
        <p:txBody>
          <a:bodyPr wrap="square" lIns="0" tIns="0" rIns="0" bIns="0" rtlCol="0" anchor="ctr"/>
          <a:lstStyle/>
          <a:p>
            <a:pPr indent="0" marL="0">
              <a:buNone/>
            </a:pPr>
            <a:r>
              <a:rPr lang="en-US" sz="1000" b="1" dirty="0">
                <a:solidFill>
                  <a:srgbClr val="0047AB"/>
                </a:solidFill>
                <a:latin typeface="Arial" pitchFamily="34" charset="0"/>
                <a:ea typeface="Arial" pitchFamily="34" charset="-122"/>
                <a:cs typeface="Arial" pitchFamily="34" charset="-120"/>
              </a:rPr>
              <a:t>💡 NGUYÊN TẮC VẬN HÀNH BẤT BIẾN:</a:t>
            </a:r>
            <a:endParaRPr lang="en-US" sz="1000" dirty="0"/>
          </a:p>
        </p:txBody>
      </p:sp>
      <p:sp>
        <p:nvSpPr>
          <p:cNvPr id="18" name="Text 15"/>
          <p:cNvSpPr txBox="1"/>
          <p:nvPr/>
        </p:nvSpPr>
        <p:spPr>
          <a:xfrm>
            <a:off x="731520" y="4023360"/>
            <a:ext cx="7680960" cy="45720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 Dữ liệu chỉ nhập một lần duy nhất từ lúc tạo phiếu giao việc, tự động kế thừa qua Kho hàng, Giám định và Kế toán xuất hóa đơn.</a:t>
            </a:r>
            <a:pPr indent="0" marL="0">
              <a:buNone/>
            </a:pPr>
            <a:r>
              <a:rPr lang="en-US" sz="900" dirty="0">
                <a:solidFill>
                  <a:srgbClr val="0F172A"/>
                </a:solidFill>
                <a:latin typeface="Calibri" pitchFamily="34" charset="0"/>
                <a:ea typeface="Calibri" pitchFamily="34" charset="-122"/>
                <a:cs typeface="Calibri" pitchFamily="34" charset="-120"/>
              </a:rPr>
              <a:t>• Mọi thao tác đều có phân quyền rõ ràng, lưu vết Audit Log và chặn tuyệt đối thao tác nhảy cóc quy trình.</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3657600" cy="228600"/>
          </a:xfrm>
          <a:prstGeom prst="rect">
            <a:avLst/>
          </a:prstGeom>
          <a:noFill/>
          <a:ln/>
        </p:spPr>
        <p:txBody>
          <a:bodyPr wrap="square" lIns="0" tIns="0" rIns="0" bIns="0" rtlCol="0" anchor="ctr"/>
          <a:lstStyle/>
          <a:p>
            <a:pPr indent="0" marL="0">
              <a:buNone/>
            </a:pPr>
            <a:r>
              <a:rPr lang="en-US" sz="900" b="1" dirty="0">
                <a:solidFill>
                  <a:srgbClr val="E11D48"/>
                </a:solidFill>
                <a:latin typeface="Arial" pitchFamily="34" charset="0"/>
                <a:ea typeface="Arial" pitchFamily="34" charset="-122"/>
                <a:cs typeface="Arial" pitchFamily="34" charset="-120"/>
              </a:rPr>
              <a:t>CƠ CHẾ BẢO MẬT &amp; PHÂN QUYỀN</a:t>
            </a:r>
            <a:endParaRPr lang="en-US" sz="90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700" b="1" dirty="0">
                <a:solidFill>
                  <a:srgbClr val="002B7F"/>
                </a:solidFill>
                <a:latin typeface="Arial" pitchFamily="34" charset="0"/>
                <a:ea typeface="Arial" pitchFamily="34" charset="-122"/>
                <a:cs typeface="Arial" pitchFamily="34" charset="-120"/>
              </a:rPr>
              <a:t>MA TRẬN 6 VAI TRÒ &amp; PHÂN ĐỊNH TRÁCH NHIỆM HỆ THỐNG</a:t>
            </a:r>
            <a:endParaRPr lang="en-US" sz="1700" dirty="0"/>
          </a:p>
        </p:txBody>
      </p:sp>
      <p:sp>
        <p:nvSpPr>
          <p:cNvPr id="4" name="Shape 2"/>
          <p:cNvSpPr/>
          <p:nvPr/>
        </p:nvSpPr>
        <p:spPr>
          <a:xfrm>
            <a:off x="6949440" y="411480"/>
            <a:ext cx="164592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949440" y="411480"/>
            <a:ext cx="16459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PHÂN QUYỀN</a:t>
            </a:r>
            <a:endParaRPr lang="en-US" sz="900" dirty="0"/>
          </a:p>
        </p:txBody>
      </p:sp>
      <p:pic>
        <p:nvPicPr>
          <p:cNvPr id="6" name="Image 0" descr="D:\Claude Code\App So Cong tac\scripts\pptx-assets\mockup-roles.png">    </p:cNvPr>
          <p:cNvPicPr>
            <a:picLocks noChangeAspect="1"/>
          </p:cNvPicPr>
          <p:nvPr/>
        </p:nvPicPr>
        <p:blipFill>
          <a:blip r:embed="rId1"/>
          <a:stretch>
            <a:fillRect/>
          </a:stretch>
        </p:blipFill>
        <p:spPr>
          <a:xfrm>
            <a:off x="548640" y="1051560"/>
            <a:ext cx="5303520" cy="2926080"/>
          </a:xfrm>
          <a:prstGeom prst="rect">
            <a:avLst/>
          </a:prstGeom>
        </p:spPr>
      </p:pic>
      <p:sp>
        <p:nvSpPr>
          <p:cNvPr id="7" name="Shape 4"/>
          <p:cNvSpPr/>
          <p:nvPr/>
        </p:nvSpPr>
        <p:spPr>
          <a:xfrm>
            <a:off x="6035040" y="1051560"/>
            <a:ext cx="2560320" cy="777240"/>
          </a:xfrm>
          <a:prstGeom prst="roundRect">
            <a:avLst>
              <a:gd name="adj" fmla="val 9412"/>
            </a:avLst>
          </a:prstGeom>
          <a:solidFill>
            <a:srgbClr val="FFFFFF"/>
          </a:solidFill>
          <a:ln w="12700">
            <a:solidFill>
              <a:srgbClr val="E2E8F0"/>
            </a:solidFill>
            <a:prstDash val="solid"/>
          </a:ln>
        </p:spPr>
      </p:sp>
      <p:sp>
        <p:nvSpPr>
          <p:cNvPr id="8" name="Text 5"/>
          <p:cNvSpPr txBox="1"/>
          <p:nvPr/>
        </p:nvSpPr>
        <p:spPr>
          <a:xfrm>
            <a:off x="6172200" y="1124712"/>
            <a:ext cx="228600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1. Khối Kỹ Thuật (tech_admin / staff / ktv)</a:t>
            </a:r>
            <a:endParaRPr lang="en-US" sz="950" dirty="0"/>
          </a:p>
        </p:txBody>
      </p:sp>
      <p:sp>
        <p:nvSpPr>
          <p:cNvPr id="9" name="Text 6"/>
          <p:cNvSpPr txBox="1"/>
          <p:nvPr/>
        </p:nvSpPr>
        <p:spPr>
          <a:xfrm>
            <a:off x="6172200" y="1344168"/>
            <a:ext cx="228600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Tập trung tiếp nhận cuộc gọi, phân phối việc ngoài hiện trường, kiểm soát vật tư kỹ thuật và giải quyết sự cố máy tại chỗ.</a:t>
            </a:r>
            <a:endParaRPr lang="en-US" sz="850" dirty="0"/>
          </a:p>
        </p:txBody>
      </p:sp>
      <p:sp>
        <p:nvSpPr>
          <p:cNvPr id="10" name="Shape 7"/>
          <p:cNvSpPr/>
          <p:nvPr/>
        </p:nvSpPr>
        <p:spPr>
          <a:xfrm>
            <a:off x="6035040" y="1965960"/>
            <a:ext cx="2560320" cy="777240"/>
          </a:xfrm>
          <a:prstGeom prst="roundRect">
            <a:avLst>
              <a:gd name="adj" fmla="val 9412"/>
            </a:avLst>
          </a:prstGeom>
          <a:solidFill>
            <a:srgbClr val="FFFFFF"/>
          </a:solidFill>
          <a:ln w="12700">
            <a:solidFill>
              <a:srgbClr val="E2E8F0"/>
            </a:solidFill>
            <a:prstDash val="solid"/>
          </a:ln>
        </p:spPr>
      </p:sp>
      <p:sp>
        <p:nvSpPr>
          <p:cNvPr id="11" name="Text 8"/>
          <p:cNvSpPr txBox="1"/>
          <p:nvPr/>
        </p:nvSpPr>
        <p:spPr>
          <a:xfrm>
            <a:off x="6172200" y="2039112"/>
            <a:ext cx="2286000" cy="201168"/>
          </a:xfrm>
          <a:prstGeom prst="rect">
            <a:avLst/>
          </a:prstGeom>
          <a:noFill/>
          <a:ln/>
        </p:spPr>
        <p:txBody>
          <a:bodyPr wrap="square" lIns="0" tIns="0" rIns="0" bIns="0" rtlCol="0" anchor="ctr"/>
          <a:lstStyle/>
          <a:p>
            <a:pPr indent="0" marL="0">
              <a:buNone/>
            </a:pPr>
            <a:r>
              <a:rPr lang="en-US" sz="950" b="1" dirty="0">
                <a:solidFill>
                  <a:srgbClr val="059669"/>
                </a:solidFill>
                <a:latin typeface="Arial" pitchFamily="34" charset="0"/>
                <a:ea typeface="Arial" pitchFamily="34" charset="-122"/>
                <a:cs typeface="Arial" pitchFamily="34" charset="-120"/>
              </a:rPr>
              <a:t>2. Khối Kế Toán (kthc) — Tách Biệt Độc Lập</a:t>
            </a:r>
            <a:endParaRPr lang="en-US" sz="950" dirty="0"/>
          </a:p>
        </p:txBody>
      </p:sp>
      <p:sp>
        <p:nvSpPr>
          <p:cNvPr id="12" name="Text 9"/>
          <p:cNvSpPr txBox="1"/>
          <p:nvPr/>
        </p:nvSpPr>
        <p:spPr>
          <a:xfrm>
            <a:off x="6172200" y="2258568"/>
            <a:ext cx="228600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Chỉ truy cập Bảng điều phối Kanban Hóa đơn. Ẩn hoàn toàn Sổ công tác và chuông cảnh báo để tập trung xuất hóa đơn, thu nợ.</a:t>
            </a:r>
            <a:endParaRPr lang="en-US" sz="850" dirty="0"/>
          </a:p>
        </p:txBody>
      </p:sp>
      <p:sp>
        <p:nvSpPr>
          <p:cNvPr id="13" name="Shape 10"/>
          <p:cNvSpPr/>
          <p:nvPr/>
        </p:nvSpPr>
        <p:spPr>
          <a:xfrm>
            <a:off x="6035040" y="2880360"/>
            <a:ext cx="2560320" cy="777240"/>
          </a:xfrm>
          <a:prstGeom prst="roundRect">
            <a:avLst>
              <a:gd name="adj" fmla="val 9412"/>
            </a:avLst>
          </a:prstGeom>
          <a:solidFill>
            <a:srgbClr val="FFFFFF"/>
          </a:solidFill>
          <a:ln w="12700">
            <a:solidFill>
              <a:srgbClr val="E2E8F0"/>
            </a:solidFill>
            <a:prstDash val="solid"/>
          </a:ln>
        </p:spPr>
      </p:sp>
      <p:sp>
        <p:nvSpPr>
          <p:cNvPr id="14" name="Text 11"/>
          <p:cNvSpPr txBox="1"/>
          <p:nvPr/>
        </p:nvSpPr>
        <p:spPr>
          <a:xfrm>
            <a:off x="6172200" y="2953512"/>
            <a:ext cx="2286000" cy="201168"/>
          </a:xfrm>
          <a:prstGeom prst="rect">
            <a:avLst/>
          </a:prstGeom>
          <a:noFill/>
          <a:ln/>
        </p:spPr>
        <p:txBody>
          <a:bodyPr wrap="square" lIns="0" tIns="0" rIns="0" bIns="0" rtlCol="0" anchor="ctr"/>
          <a:lstStyle/>
          <a:p>
            <a:pPr indent="0" marL="0">
              <a:buNone/>
            </a:pPr>
            <a:r>
              <a:rPr lang="en-US" sz="950" b="1" dirty="0">
                <a:solidFill>
                  <a:srgbClr val="D97706"/>
                </a:solidFill>
                <a:latin typeface="Arial" pitchFamily="34" charset="0"/>
                <a:ea typeface="Arial" pitchFamily="34" charset="-122"/>
                <a:cs typeface="Arial" pitchFamily="34" charset="-120"/>
              </a:rPr>
              <a:t>3. Khối Kinh Doanh (kinh_doanh)</a:t>
            </a:r>
            <a:endParaRPr lang="en-US" sz="950" dirty="0"/>
          </a:p>
        </p:txBody>
      </p:sp>
      <p:sp>
        <p:nvSpPr>
          <p:cNvPr id="15" name="Text 12"/>
          <p:cNvSpPr txBox="1"/>
          <p:nvPr/>
        </p:nvSpPr>
        <p:spPr>
          <a:xfrm>
            <a:off x="6172200" y="3172968"/>
            <a:ext cx="228600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Chỉ truy cập cổng thông tin /kho-thue để tra cứu cấu hình máy sẵn sàng phục vụ khách hàng. Bị chặn tuyệt đối vào /admin.</a:t>
            </a:r>
            <a:endParaRPr lang="en-US" sz="850" dirty="0"/>
          </a:p>
        </p:txBody>
      </p:sp>
      <p:sp>
        <p:nvSpPr>
          <p:cNvPr id="16" name="Shape 13"/>
          <p:cNvSpPr/>
          <p:nvPr/>
        </p:nvSpPr>
        <p:spPr>
          <a:xfrm>
            <a:off x="6035040" y="3794760"/>
            <a:ext cx="2560320" cy="777240"/>
          </a:xfrm>
          <a:prstGeom prst="roundRect">
            <a:avLst>
              <a:gd name="adj" fmla="val 9412"/>
            </a:avLst>
          </a:prstGeom>
          <a:solidFill>
            <a:srgbClr val="FFFFFF"/>
          </a:solidFill>
          <a:ln w="12700">
            <a:solidFill>
              <a:srgbClr val="E2E8F0"/>
            </a:solidFill>
            <a:prstDash val="solid"/>
          </a:ln>
        </p:spPr>
      </p:sp>
      <p:sp>
        <p:nvSpPr>
          <p:cNvPr id="17" name="Text 14"/>
          <p:cNvSpPr txBox="1"/>
          <p:nvPr/>
        </p:nvSpPr>
        <p:spPr>
          <a:xfrm>
            <a:off x="6172200" y="3867912"/>
            <a:ext cx="2286000" cy="201168"/>
          </a:xfrm>
          <a:prstGeom prst="rect">
            <a:avLst/>
          </a:prstGeom>
          <a:noFill/>
          <a:ln/>
        </p:spPr>
        <p:txBody>
          <a:bodyPr wrap="square" lIns="0" tIns="0" rIns="0" bIns="0" rtlCol="0" anchor="ctr"/>
          <a:lstStyle/>
          <a:p>
            <a:pPr indent="0" marL="0">
              <a:buNone/>
            </a:pPr>
            <a:r>
              <a:rPr lang="en-US" sz="950" b="1" dirty="0">
                <a:solidFill>
                  <a:srgbClr val="E11D48"/>
                </a:solidFill>
                <a:latin typeface="Arial" pitchFamily="34" charset="0"/>
                <a:ea typeface="Arial" pitchFamily="34" charset="-122"/>
                <a:cs typeface="Arial" pitchFamily="34" charset="-120"/>
              </a:rPr>
              <a:t>4. Ban Quản Trị (admin)</a:t>
            </a:r>
            <a:endParaRPr lang="en-US" sz="950" dirty="0"/>
          </a:p>
        </p:txBody>
      </p:sp>
      <p:sp>
        <p:nvSpPr>
          <p:cNvPr id="18" name="Text 15"/>
          <p:cNvSpPr txBox="1"/>
          <p:nvPr/>
        </p:nvSpPr>
        <p:spPr>
          <a:xfrm>
            <a:off x="6172200" y="4087368"/>
            <a:ext cx="228600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Cầm trịch cấu hình hệ thống, duyệt đơn hàng về, quản lý mật khẩu, bật chế độ bảo trì khẩn cấp và rà soát Audit Log.</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3657600" cy="228600"/>
          </a:xfrm>
          <a:prstGeom prst="rect">
            <a:avLst/>
          </a:prstGeom>
          <a:noFill/>
          <a:ln/>
        </p:spPr>
        <p:txBody>
          <a:bodyPr wrap="square" lIns="0" tIns="0" rIns="0" bIns="0" rtlCol="0" anchor="ctr"/>
          <a:lstStyle/>
          <a:p>
            <a:pPr indent="0" marL="0">
              <a:buNone/>
            </a:pPr>
            <a:r>
              <a:rPr lang="en-US" sz="900" b="1" dirty="0">
                <a:solidFill>
                  <a:srgbClr val="E11D48"/>
                </a:solidFill>
                <a:latin typeface="Arial" pitchFamily="34" charset="0"/>
                <a:ea typeface="Arial" pitchFamily="34" charset="-122"/>
                <a:cs typeface="Arial" pitchFamily="34" charset="-120"/>
              </a:rPr>
              <a:t>NGHIỆP VỤ ĐIỀU HÀNH</a:t>
            </a:r>
            <a:endParaRPr lang="en-US" sz="90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700" b="1" dirty="0">
                <a:solidFill>
                  <a:srgbClr val="002B7F"/>
                </a:solidFill>
                <a:latin typeface="Arial" pitchFamily="34" charset="0"/>
                <a:ea typeface="Arial" pitchFamily="34" charset="-122"/>
                <a:cs typeface="Arial" pitchFamily="34" charset="-120"/>
              </a:rPr>
              <a:t>SỔ CÔNG TÁC — ĐIỀU PHỐI &amp; GIAO VIỆC HIỆN TRƯỜNG</a:t>
            </a:r>
            <a:endParaRPr lang="en-US" sz="1700" dirty="0"/>
          </a:p>
        </p:txBody>
      </p:sp>
      <p:sp>
        <p:nvSpPr>
          <p:cNvPr id="4" name="Shape 2"/>
          <p:cNvSpPr/>
          <p:nvPr/>
        </p:nvSpPr>
        <p:spPr>
          <a:xfrm>
            <a:off x="6949440" y="411480"/>
            <a:ext cx="164592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949440" y="411480"/>
            <a:ext cx="16459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TECH_ADMIN · STAFF</a:t>
            </a:r>
            <a:endParaRPr lang="en-US" sz="900" dirty="0"/>
          </a:p>
        </p:txBody>
      </p:sp>
      <p:pic>
        <p:nvPicPr>
          <p:cNvPr id="6" name="Image 0" descr="D:\Claude Code\App So Cong tac\scripts\pptx-assets\mockup-giaoviec.png">    </p:cNvPr>
          <p:cNvPicPr>
            <a:picLocks noChangeAspect="1"/>
          </p:cNvPicPr>
          <p:nvPr/>
        </p:nvPicPr>
        <p:blipFill>
          <a:blip r:embed="rId1"/>
          <a:stretch>
            <a:fillRect/>
          </a:stretch>
        </p:blipFill>
        <p:spPr>
          <a:xfrm>
            <a:off x="548640" y="1051560"/>
            <a:ext cx="5029200" cy="3017520"/>
          </a:xfrm>
          <a:prstGeom prst="rect">
            <a:avLst/>
          </a:prstGeom>
        </p:spPr>
      </p:pic>
      <p:sp>
        <p:nvSpPr>
          <p:cNvPr id="7" name="Shape 4"/>
          <p:cNvSpPr/>
          <p:nvPr/>
        </p:nvSpPr>
        <p:spPr>
          <a:xfrm>
            <a:off x="5760720" y="1051560"/>
            <a:ext cx="2834640" cy="685800"/>
          </a:xfrm>
          <a:prstGeom prst="roundRect">
            <a:avLst>
              <a:gd name="adj" fmla="val 10667"/>
            </a:avLst>
          </a:prstGeom>
          <a:solidFill>
            <a:srgbClr val="FFFFFF"/>
          </a:solidFill>
          <a:ln w="12700">
            <a:solidFill>
              <a:srgbClr val="E2E8F0"/>
            </a:solidFill>
            <a:prstDash val="solid"/>
          </a:ln>
        </p:spPr>
      </p:sp>
      <p:sp>
        <p:nvSpPr>
          <p:cNvPr id="8" name="Text 5"/>
          <p:cNvSpPr txBox="1"/>
          <p:nvPr/>
        </p:nvSpPr>
        <p:spPr>
          <a:xfrm>
            <a:off x="5897880" y="1106424"/>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1. Khởi tạo phiếu &amp; Nhận diện Giám định</a:t>
            </a:r>
            <a:endParaRPr lang="en-US" sz="950" dirty="0"/>
          </a:p>
        </p:txBody>
      </p:sp>
      <p:sp>
        <p:nvSpPr>
          <p:cNvPr id="9" name="Text 6"/>
          <p:cNvSpPr txBox="1"/>
          <p:nvPr/>
        </p:nvSpPr>
        <p:spPr>
          <a:xfrm>
            <a:off x="5897880" y="1307592"/>
            <a:ext cx="2560320" cy="38404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Nhập số phiếu, chọn khách hàng/mã máy. Hệ thống tự động quét cảnh báo nếu máy đang có Biên bản giám định chờ thay để gợi ý vật tư.</a:t>
            </a:r>
            <a:endParaRPr lang="en-US" sz="850" dirty="0"/>
          </a:p>
        </p:txBody>
      </p:sp>
      <p:sp>
        <p:nvSpPr>
          <p:cNvPr id="10" name="Shape 7"/>
          <p:cNvSpPr/>
          <p:nvPr/>
        </p:nvSpPr>
        <p:spPr>
          <a:xfrm>
            <a:off x="5760720" y="1874520"/>
            <a:ext cx="2834640" cy="685800"/>
          </a:xfrm>
          <a:prstGeom prst="roundRect">
            <a:avLst>
              <a:gd name="adj" fmla="val 10667"/>
            </a:avLst>
          </a:prstGeom>
          <a:solidFill>
            <a:srgbClr val="FFFFFF"/>
          </a:solidFill>
          <a:ln w="12700">
            <a:solidFill>
              <a:srgbClr val="E2E8F0"/>
            </a:solidFill>
            <a:prstDash val="solid"/>
          </a:ln>
        </p:spPr>
      </p:sp>
      <p:sp>
        <p:nvSpPr>
          <p:cNvPr id="11" name="Text 8"/>
          <p:cNvSpPr txBox="1"/>
          <p:nvPr/>
        </p:nvSpPr>
        <p:spPr>
          <a:xfrm>
            <a:off x="5897880" y="1929384"/>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2. Cơ chế Pool &amp; Phân công linh hoạt</a:t>
            </a:r>
            <a:endParaRPr lang="en-US" sz="950" dirty="0"/>
          </a:p>
        </p:txBody>
      </p:sp>
      <p:sp>
        <p:nvSpPr>
          <p:cNvPr id="12" name="Text 9"/>
          <p:cNvSpPr txBox="1"/>
          <p:nvPr/>
        </p:nvSpPr>
        <p:spPr>
          <a:xfrm>
            <a:off x="5897880" y="2130552"/>
            <a:ext cx="2560320" cy="38404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Có thể gán KTV đích danh (gửi DM riêng) hoặc đẩy vào Pool "Chờ nhận" (bắn lên Group Telegram chung để thợ tiện đường tự bấm nhận).</a:t>
            </a:r>
            <a:endParaRPr lang="en-US" sz="850" dirty="0"/>
          </a:p>
        </p:txBody>
      </p:sp>
      <p:sp>
        <p:nvSpPr>
          <p:cNvPr id="13" name="Shape 10"/>
          <p:cNvSpPr/>
          <p:nvPr/>
        </p:nvSpPr>
        <p:spPr>
          <a:xfrm>
            <a:off x="5760720" y="2697480"/>
            <a:ext cx="2834640" cy="685800"/>
          </a:xfrm>
          <a:prstGeom prst="roundRect">
            <a:avLst>
              <a:gd name="adj" fmla="val 10667"/>
            </a:avLst>
          </a:prstGeom>
          <a:solidFill>
            <a:srgbClr val="FFFFFF"/>
          </a:solidFill>
          <a:ln w="12700">
            <a:solidFill>
              <a:srgbClr val="E2E8F0"/>
            </a:solidFill>
            <a:prstDash val="solid"/>
          </a:ln>
        </p:spPr>
      </p:sp>
      <p:sp>
        <p:nvSpPr>
          <p:cNvPr id="14" name="Text 11"/>
          <p:cNvSpPr txBox="1"/>
          <p:nvPr/>
        </p:nvSpPr>
        <p:spPr>
          <a:xfrm>
            <a:off x="5897880" y="2752344"/>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3. Bot Telegram tự dọn rác thông minh</a:t>
            </a:r>
            <a:endParaRPr lang="en-US" sz="950" dirty="0"/>
          </a:p>
        </p:txBody>
      </p:sp>
      <p:sp>
        <p:nvSpPr>
          <p:cNvPr id="15" name="Text 12"/>
          <p:cNvSpPr txBox="1"/>
          <p:nvPr/>
        </p:nvSpPr>
        <p:spPr>
          <a:xfrm>
            <a:off x="5897880" y="2953512"/>
            <a:ext cx="2560320" cy="38404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Khi có KTV nhận việc từ Pool, bot tự động sửa lại tin nhắn gốc trên nhóm thành "Đã nhận bởi KTV..." giúp group luôn gọn gàng.</a:t>
            </a:r>
            <a:endParaRPr lang="en-US" sz="850" dirty="0"/>
          </a:p>
        </p:txBody>
      </p:sp>
      <p:sp>
        <p:nvSpPr>
          <p:cNvPr id="16" name="Shape 13"/>
          <p:cNvSpPr/>
          <p:nvPr/>
        </p:nvSpPr>
        <p:spPr>
          <a:xfrm>
            <a:off x="5760720" y="3520440"/>
            <a:ext cx="2834640" cy="685800"/>
          </a:xfrm>
          <a:prstGeom prst="roundRect">
            <a:avLst>
              <a:gd name="adj" fmla="val 10667"/>
            </a:avLst>
          </a:prstGeom>
          <a:solidFill>
            <a:srgbClr val="FFFFFF"/>
          </a:solidFill>
          <a:ln w="12700">
            <a:solidFill>
              <a:srgbClr val="E2E8F0"/>
            </a:solidFill>
            <a:prstDash val="solid"/>
          </a:ln>
        </p:spPr>
      </p:sp>
      <p:sp>
        <p:nvSpPr>
          <p:cNvPr id="17" name="Text 14"/>
          <p:cNvSpPr txBox="1"/>
          <p:nvPr/>
        </p:nvSpPr>
        <p:spPr>
          <a:xfrm>
            <a:off x="5897880" y="3575304"/>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4. Tự động cuốn ngày phiếu tồn đọng</a:t>
            </a:r>
            <a:endParaRPr lang="en-US" sz="950" dirty="0"/>
          </a:p>
        </p:txBody>
      </p:sp>
      <p:sp>
        <p:nvSpPr>
          <p:cNvPr id="18" name="Text 15"/>
          <p:cNvSpPr txBox="1"/>
          <p:nvPr/>
        </p:nvSpPr>
        <p:spPr>
          <a:xfrm>
            <a:off x="5897880" y="3776472"/>
            <a:ext cx="2560320" cy="38404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Các phiếu chưa làm trong ngày sẽ được cron job tự động cuốn sang ngày làm việc tiếp theo kèm huy hiệu cảnh báo tồn đọng.</a:t>
            </a:r>
            <a:endParaRPr lang="en-US" sz="850" dirty="0"/>
          </a:p>
        </p:txBody>
      </p:sp>
      <p:sp>
        <p:nvSpPr>
          <p:cNvPr id="19" name="Shape 16"/>
          <p:cNvSpPr/>
          <p:nvPr/>
        </p:nvSpPr>
        <p:spPr>
          <a:xfrm>
            <a:off x="548640" y="4251960"/>
            <a:ext cx="8046720" cy="457200"/>
          </a:xfrm>
          <a:prstGeom prst="roundRect">
            <a:avLst>
              <a:gd name="adj" fmla="val 16000"/>
            </a:avLst>
          </a:prstGeom>
          <a:solidFill>
            <a:srgbClr val="FFF1F2"/>
          </a:solidFill>
          <a:ln w="12700">
            <a:solidFill>
              <a:srgbClr val="FECDD3"/>
            </a:solidFill>
            <a:prstDash val="solid"/>
          </a:ln>
        </p:spPr>
      </p:sp>
      <p:sp>
        <p:nvSpPr>
          <p:cNvPr id="20" name="Text 17"/>
          <p:cNvSpPr txBox="1"/>
          <p:nvPr/>
        </p:nvSpPr>
        <p:spPr>
          <a:xfrm>
            <a:off x="731520" y="4343400"/>
            <a:ext cx="7680960" cy="274320"/>
          </a:xfrm>
          <a:prstGeom prst="rect">
            <a:avLst/>
          </a:prstGeom>
          <a:noFill/>
          <a:ln/>
        </p:spPr>
        <p:txBody>
          <a:bodyPr wrap="square" lIns="0" tIns="0" rIns="0" bIns="0" rtlCol="0" anchor="ctr"/>
          <a:lstStyle/>
          <a:p>
            <a:pPr indent="0" marL="0">
              <a:buNone/>
            </a:pPr>
            <a:r>
              <a:rPr lang="en-US" sz="900" b="1" dirty="0">
                <a:solidFill>
                  <a:srgbClr val="E11D48"/>
                </a:solidFill>
                <a:latin typeface="Calibri" pitchFamily="34" charset="0"/>
                <a:ea typeface="Calibri" pitchFamily="34" charset="-122"/>
                <a:cs typeface="Calibri" pitchFamily="34" charset="-120"/>
              </a:rPr>
              <a:t>⚠️ LƯU Ý KHI GIAO VIỆC: Mọi phiếu giao có gắn vật tư, mặc định cờ Hóa đơn là FALSE. Tech_admin rà soát kỹ đơn giá trước khi đẩy kế toán.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3657600" cy="228600"/>
          </a:xfrm>
          <a:prstGeom prst="rect">
            <a:avLst/>
          </a:prstGeom>
          <a:noFill/>
          <a:ln/>
        </p:spPr>
        <p:txBody>
          <a:bodyPr wrap="square" lIns="0" tIns="0" rIns="0" bIns="0" rtlCol="0" anchor="ctr"/>
          <a:lstStyle/>
          <a:p>
            <a:pPr indent="0" marL="0">
              <a:buNone/>
            </a:pPr>
            <a:r>
              <a:rPr lang="en-US" sz="900" b="1" dirty="0">
                <a:solidFill>
                  <a:srgbClr val="E11D48"/>
                </a:solidFill>
                <a:latin typeface="Arial" pitchFamily="34" charset="0"/>
                <a:ea typeface="Arial" pitchFamily="34" charset="-122"/>
                <a:cs typeface="Arial" pitchFamily="34" charset="-120"/>
              </a:rPr>
              <a:t>KỸ THUẬT LƯU ĐỘNG</a:t>
            </a:r>
            <a:endParaRPr lang="en-US" sz="90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700" b="1" dirty="0">
                <a:solidFill>
                  <a:srgbClr val="002B7F"/>
                </a:solidFill>
                <a:latin typeface="Arial" pitchFamily="34" charset="0"/>
                <a:ea typeface="Arial" pitchFamily="34" charset="-122"/>
                <a:cs typeface="Arial" pitchFamily="34" charset="-120"/>
              </a:rPr>
              <a:t>HIỆN TRƯỜNG KTV — ỨNG DỤNG DI ĐỘNG TIỆN LỢI (/ktv)</a:t>
            </a:r>
            <a:endParaRPr lang="en-US" sz="1700" dirty="0"/>
          </a:p>
        </p:txBody>
      </p:sp>
      <p:sp>
        <p:nvSpPr>
          <p:cNvPr id="4" name="Shape 2"/>
          <p:cNvSpPr/>
          <p:nvPr/>
        </p:nvSpPr>
        <p:spPr>
          <a:xfrm>
            <a:off x="6949440" y="411480"/>
            <a:ext cx="164592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949440" y="411480"/>
            <a:ext cx="16459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KTV</a:t>
            </a:r>
            <a:endParaRPr lang="en-US" sz="900" dirty="0"/>
          </a:p>
        </p:txBody>
      </p:sp>
      <p:pic>
        <p:nvPicPr>
          <p:cNvPr id="6" name="Image 0" descr="D:\Claude Code\App So Cong tac\scripts\pptx-assets\mockup-ktv-mobile.png">    </p:cNvPr>
          <p:cNvPicPr>
            <a:picLocks noChangeAspect="1"/>
          </p:cNvPicPr>
          <p:nvPr/>
        </p:nvPicPr>
        <p:blipFill>
          <a:blip r:embed="rId1"/>
          <a:stretch>
            <a:fillRect/>
          </a:stretch>
        </p:blipFill>
        <p:spPr>
          <a:xfrm>
            <a:off x="548640" y="1051560"/>
            <a:ext cx="2286000" cy="3566160"/>
          </a:xfrm>
          <a:prstGeom prst="rect">
            <a:avLst/>
          </a:prstGeom>
        </p:spPr>
      </p:pic>
      <p:sp>
        <p:nvSpPr>
          <p:cNvPr id="7" name="Shape 4"/>
          <p:cNvSpPr/>
          <p:nvPr/>
        </p:nvSpPr>
        <p:spPr>
          <a:xfrm>
            <a:off x="3017520" y="1051560"/>
            <a:ext cx="5577840" cy="777240"/>
          </a:xfrm>
          <a:prstGeom prst="roundRect">
            <a:avLst>
              <a:gd name="adj" fmla="val 9412"/>
            </a:avLst>
          </a:prstGeom>
          <a:solidFill>
            <a:srgbClr val="FFFFFF"/>
          </a:solidFill>
          <a:ln w="12700">
            <a:solidFill>
              <a:srgbClr val="E2E8F0"/>
            </a:solidFill>
            <a:prstDash val="solid"/>
          </a:ln>
        </p:spPr>
      </p:sp>
      <p:sp>
        <p:nvSpPr>
          <p:cNvPr id="8" name="Text 5"/>
          <p:cNvSpPr txBox="1"/>
          <p:nvPr/>
        </p:nvSpPr>
        <p:spPr>
          <a:xfrm>
            <a:off x="3154680" y="1124712"/>
            <a:ext cx="3931920" cy="201168"/>
          </a:xfrm>
          <a:prstGeom prst="rect">
            <a:avLst/>
          </a:prstGeom>
          <a:noFill/>
          <a:ln/>
        </p:spPr>
        <p:txBody>
          <a:bodyPr wrap="square" lIns="0" tIns="0" rIns="0" bIns="0" rtlCol="0" anchor="ctr"/>
          <a:lstStyle/>
          <a:p>
            <a:pPr indent="0" marL="0">
              <a:buNone/>
            </a:pPr>
            <a:r>
              <a:rPr lang="en-US" sz="1000" b="1" dirty="0">
                <a:solidFill>
                  <a:srgbClr val="0047AB"/>
                </a:solidFill>
                <a:latin typeface="Arial" pitchFamily="34" charset="0"/>
                <a:ea typeface="Arial" pitchFamily="34" charset="-122"/>
                <a:cs typeface="Arial" pitchFamily="34" charset="-120"/>
              </a:rPr>
              <a:t>📱 Thao tác 1 chạm tối giản</a:t>
            </a:r>
            <a:endParaRPr lang="en-US" sz="1000" dirty="0"/>
          </a:p>
        </p:txBody>
      </p:sp>
      <p:sp>
        <p:nvSpPr>
          <p:cNvPr id="9" name="Shape 6"/>
          <p:cNvSpPr/>
          <p:nvPr/>
        </p:nvSpPr>
        <p:spPr>
          <a:xfrm>
            <a:off x="7132320" y="1124712"/>
            <a:ext cx="1325880" cy="201168"/>
          </a:xfrm>
          <a:prstGeom prst="roundRect">
            <a:avLst>
              <a:gd name="adj" fmla="val 18182"/>
            </a:avLst>
          </a:prstGeom>
          <a:solidFill>
            <a:srgbClr val="F1F5F9"/>
          </a:solidFill>
          <a:ln w="6350">
            <a:solidFill>
              <a:srgbClr val="CBD5E1"/>
            </a:solidFill>
            <a:prstDash val="solid"/>
          </a:ln>
        </p:spPr>
      </p:sp>
      <p:sp>
        <p:nvSpPr>
          <p:cNvPr id="10" name="Text 7"/>
          <p:cNvSpPr txBox="1"/>
          <p:nvPr/>
        </p:nvSpPr>
        <p:spPr>
          <a:xfrm>
            <a:off x="7132320" y="1124712"/>
            <a:ext cx="1325880" cy="201168"/>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QUY TRÌNH 3 BƯỚC</a:t>
            </a:r>
            <a:endParaRPr lang="en-US" sz="750" dirty="0"/>
          </a:p>
        </p:txBody>
      </p:sp>
      <p:sp>
        <p:nvSpPr>
          <p:cNvPr id="11" name="Text 8"/>
          <p:cNvSpPr txBox="1"/>
          <p:nvPr/>
        </p:nvSpPr>
        <p:spPr>
          <a:xfrm>
            <a:off x="3154680" y="1344168"/>
            <a:ext cx="521208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KTV chỉ cần 1 cú chạm: "Nhận việc" từ Pool ➔ Bấm "Đang làm" khi tới nơi ➔ Bấm "Hoàn thành" khi sửa xong. Màn hình tự động cập nhật việc mới.</a:t>
            </a:r>
            <a:endParaRPr lang="en-US" sz="850" dirty="0"/>
          </a:p>
        </p:txBody>
      </p:sp>
      <p:sp>
        <p:nvSpPr>
          <p:cNvPr id="12" name="Shape 9"/>
          <p:cNvSpPr/>
          <p:nvPr/>
        </p:nvSpPr>
        <p:spPr>
          <a:xfrm>
            <a:off x="3017520" y="1965960"/>
            <a:ext cx="5577840" cy="777240"/>
          </a:xfrm>
          <a:prstGeom prst="roundRect">
            <a:avLst>
              <a:gd name="adj" fmla="val 9412"/>
            </a:avLst>
          </a:prstGeom>
          <a:solidFill>
            <a:srgbClr val="FFFFFF"/>
          </a:solidFill>
          <a:ln w="12700">
            <a:solidFill>
              <a:srgbClr val="E2E8F0"/>
            </a:solidFill>
            <a:prstDash val="solid"/>
          </a:ln>
        </p:spPr>
      </p:sp>
      <p:sp>
        <p:nvSpPr>
          <p:cNvPr id="13" name="Text 10"/>
          <p:cNvSpPr txBox="1"/>
          <p:nvPr/>
        </p:nvSpPr>
        <p:spPr>
          <a:xfrm>
            <a:off x="3154680" y="2039112"/>
            <a:ext cx="3931920" cy="201168"/>
          </a:xfrm>
          <a:prstGeom prst="rect">
            <a:avLst/>
          </a:prstGeom>
          <a:noFill/>
          <a:ln/>
        </p:spPr>
        <p:txBody>
          <a:bodyPr wrap="square" lIns="0" tIns="0" rIns="0" bIns="0" rtlCol="0" anchor="ctr"/>
          <a:lstStyle/>
          <a:p>
            <a:pPr indent="0" marL="0">
              <a:buNone/>
            </a:pPr>
            <a:r>
              <a:rPr lang="en-US" sz="1000" b="1" dirty="0">
                <a:solidFill>
                  <a:srgbClr val="0047AB"/>
                </a:solidFill>
                <a:latin typeface="Arial" pitchFamily="34" charset="0"/>
                <a:ea typeface="Arial" pitchFamily="34" charset="-122"/>
                <a:cs typeface="Arial" pitchFamily="34" charset="-120"/>
              </a:rPr>
              <a:t>📶 Hàng đợi Offline chống mất sóng dưới hầm</a:t>
            </a:r>
            <a:endParaRPr lang="en-US" sz="1000" dirty="0"/>
          </a:p>
        </p:txBody>
      </p:sp>
      <p:sp>
        <p:nvSpPr>
          <p:cNvPr id="14" name="Shape 11"/>
          <p:cNvSpPr/>
          <p:nvPr/>
        </p:nvSpPr>
        <p:spPr>
          <a:xfrm>
            <a:off x="7132320" y="2039112"/>
            <a:ext cx="1325880" cy="201168"/>
          </a:xfrm>
          <a:prstGeom prst="roundRect">
            <a:avLst>
              <a:gd name="adj" fmla="val 18182"/>
            </a:avLst>
          </a:prstGeom>
          <a:solidFill>
            <a:srgbClr val="F1F5F9"/>
          </a:solidFill>
          <a:ln w="6350">
            <a:solidFill>
              <a:srgbClr val="CBD5E1"/>
            </a:solidFill>
            <a:prstDash val="solid"/>
          </a:ln>
        </p:spPr>
      </p:sp>
      <p:sp>
        <p:nvSpPr>
          <p:cNvPr id="15" name="Text 12"/>
          <p:cNvSpPr txBox="1"/>
          <p:nvPr/>
        </p:nvSpPr>
        <p:spPr>
          <a:xfrm>
            <a:off x="7132320" y="2039112"/>
            <a:ext cx="1325880" cy="201168"/>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CÔNG NGHỆ ĐỘC QUYỀN</a:t>
            </a:r>
            <a:endParaRPr lang="en-US" sz="750" dirty="0"/>
          </a:p>
        </p:txBody>
      </p:sp>
      <p:sp>
        <p:nvSpPr>
          <p:cNvPr id="16" name="Text 13"/>
          <p:cNvSpPr txBox="1"/>
          <p:nvPr/>
        </p:nvSpPr>
        <p:spPr>
          <a:xfrm>
            <a:off x="3154680" y="2258568"/>
            <a:ext cx="521208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Khi làm việc trong tầng hầm tòa nhà mất 4G/Wifi, KTV vẫn bấm trạng thái bình thường. Thao tác được lưu cục bộ và tự động đồng bộ lên server ngay khi có mạng.</a:t>
            </a:r>
            <a:endParaRPr lang="en-US" sz="850" dirty="0"/>
          </a:p>
        </p:txBody>
      </p:sp>
      <p:sp>
        <p:nvSpPr>
          <p:cNvPr id="17" name="Shape 14"/>
          <p:cNvSpPr/>
          <p:nvPr/>
        </p:nvSpPr>
        <p:spPr>
          <a:xfrm>
            <a:off x="3017520" y="2880360"/>
            <a:ext cx="5577840" cy="777240"/>
          </a:xfrm>
          <a:prstGeom prst="roundRect">
            <a:avLst>
              <a:gd name="adj" fmla="val 9412"/>
            </a:avLst>
          </a:prstGeom>
          <a:solidFill>
            <a:srgbClr val="FFFFFF"/>
          </a:solidFill>
          <a:ln w="12700">
            <a:solidFill>
              <a:srgbClr val="E2E8F0"/>
            </a:solidFill>
            <a:prstDash val="solid"/>
          </a:ln>
        </p:spPr>
      </p:sp>
      <p:sp>
        <p:nvSpPr>
          <p:cNvPr id="18" name="Text 15"/>
          <p:cNvSpPr txBox="1"/>
          <p:nvPr/>
        </p:nvSpPr>
        <p:spPr>
          <a:xfrm>
            <a:off x="3154680" y="2953512"/>
            <a:ext cx="3931920" cy="201168"/>
          </a:xfrm>
          <a:prstGeom prst="rect">
            <a:avLst/>
          </a:prstGeom>
          <a:noFill/>
          <a:ln/>
        </p:spPr>
        <p:txBody>
          <a:bodyPr wrap="square" lIns="0" tIns="0" rIns="0" bIns="0" rtlCol="0" anchor="ctr"/>
          <a:lstStyle/>
          <a:p>
            <a:pPr indent="0" marL="0">
              <a:buNone/>
            </a:pPr>
            <a:r>
              <a:rPr lang="en-US" sz="1000" b="1" dirty="0">
                <a:solidFill>
                  <a:srgbClr val="0047AB"/>
                </a:solidFill>
                <a:latin typeface="Arial" pitchFamily="34" charset="0"/>
                <a:ea typeface="Arial" pitchFamily="34" charset="-122"/>
                <a:cs typeface="Arial" pitchFamily="34" charset="-120"/>
              </a:rPr>
              <a:t>⏱ Đo thời gian xử lý thực tế (Lead-time)</a:t>
            </a:r>
            <a:endParaRPr lang="en-US" sz="1000" dirty="0"/>
          </a:p>
        </p:txBody>
      </p:sp>
      <p:sp>
        <p:nvSpPr>
          <p:cNvPr id="19" name="Shape 16"/>
          <p:cNvSpPr/>
          <p:nvPr/>
        </p:nvSpPr>
        <p:spPr>
          <a:xfrm>
            <a:off x="7132320" y="2953512"/>
            <a:ext cx="1325880" cy="201168"/>
          </a:xfrm>
          <a:prstGeom prst="roundRect">
            <a:avLst>
              <a:gd name="adj" fmla="val 18182"/>
            </a:avLst>
          </a:prstGeom>
          <a:solidFill>
            <a:srgbClr val="F1F5F9"/>
          </a:solidFill>
          <a:ln w="6350">
            <a:solidFill>
              <a:srgbClr val="CBD5E1"/>
            </a:solidFill>
            <a:prstDash val="solid"/>
          </a:ln>
        </p:spPr>
      </p:sp>
      <p:sp>
        <p:nvSpPr>
          <p:cNvPr id="20" name="Text 17"/>
          <p:cNvSpPr txBox="1"/>
          <p:nvPr/>
        </p:nvSpPr>
        <p:spPr>
          <a:xfrm>
            <a:off x="7132320" y="2953512"/>
            <a:ext cx="1325880" cy="201168"/>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ĐO LƯỜNG NĂNG SUẤT</a:t>
            </a:r>
            <a:endParaRPr lang="en-US" sz="750" dirty="0"/>
          </a:p>
        </p:txBody>
      </p:sp>
      <p:sp>
        <p:nvSpPr>
          <p:cNvPr id="21" name="Text 18"/>
          <p:cNvSpPr txBox="1"/>
          <p:nvPr/>
        </p:nvSpPr>
        <p:spPr>
          <a:xfrm>
            <a:off x="3154680" y="3172968"/>
            <a:ext cx="521208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Hệ thống tự động ghi nhận thời gian thực hiện từ lúc Đang làm đến Hoàn thành. Cho phép KTV hiệu chỉnh thời lượng khi có sự cố phát sinh.</a:t>
            </a:r>
            <a:endParaRPr lang="en-US" sz="850" dirty="0"/>
          </a:p>
        </p:txBody>
      </p:sp>
      <p:sp>
        <p:nvSpPr>
          <p:cNvPr id="22" name="Shape 19"/>
          <p:cNvSpPr/>
          <p:nvPr/>
        </p:nvSpPr>
        <p:spPr>
          <a:xfrm>
            <a:off x="3017520" y="3794760"/>
            <a:ext cx="5577840" cy="777240"/>
          </a:xfrm>
          <a:prstGeom prst="roundRect">
            <a:avLst>
              <a:gd name="adj" fmla="val 9412"/>
            </a:avLst>
          </a:prstGeom>
          <a:solidFill>
            <a:srgbClr val="FFFFFF"/>
          </a:solidFill>
          <a:ln w="12700">
            <a:solidFill>
              <a:srgbClr val="E2E8F0"/>
            </a:solidFill>
            <a:prstDash val="solid"/>
          </a:ln>
        </p:spPr>
      </p:sp>
      <p:sp>
        <p:nvSpPr>
          <p:cNvPr id="23" name="Text 20"/>
          <p:cNvSpPr txBox="1"/>
          <p:nvPr/>
        </p:nvSpPr>
        <p:spPr>
          <a:xfrm>
            <a:off x="3154680" y="3867912"/>
            <a:ext cx="3931920" cy="201168"/>
          </a:xfrm>
          <a:prstGeom prst="rect">
            <a:avLst/>
          </a:prstGeom>
          <a:noFill/>
          <a:ln/>
        </p:spPr>
        <p:txBody>
          <a:bodyPr wrap="square" lIns="0" tIns="0" rIns="0" bIns="0" rtlCol="0" anchor="ctr"/>
          <a:lstStyle/>
          <a:p>
            <a:pPr indent="0" marL="0">
              <a:buNone/>
            </a:pPr>
            <a:r>
              <a:rPr lang="en-US" sz="1000" b="1" dirty="0">
                <a:solidFill>
                  <a:srgbClr val="0047AB"/>
                </a:solidFill>
                <a:latin typeface="Arial" pitchFamily="34" charset="0"/>
                <a:ea typeface="Arial" pitchFamily="34" charset="-122"/>
                <a:cs typeface="Arial" pitchFamily="34" charset="-120"/>
              </a:rPr>
              <a:t>🌴 Báo cáo ngày &amp; Đăng ký nghỉ phép trực tuyến</a:t>
            </a:r>
            <a:endParaRPr lang="en-US" sz="1000" dirty="0"/>
          </a:p>
        </p:txBody>
      </p:sp>
      <p:sp>
        <p:nvSpPr>
          <p:cNvPr id="24" name="Shape 21"/>
          <p:cNvSpPr/>
          <p:nvPr/>
        </p:nvSpPr>
        <p:spPr>
          <a:xfrm>
            <a:off x="7132320" y="3867912"/>
            <a:ext cx="1325880" cy="201168"/>
          </a:xfrm>
          <a:prstGeom prst="roundRect">
            <a:avLst>
              <a:gd name="adj" fmla="val 18182"/>
            </a:avLst>
          </a:prstGeom>
          <a:solidFill>
            <a:srgbClr val="F1F5F9"/>
          </a:solidFill>
          <a:ln w="6350">
            <a:solidFill>
              <a:srgbClr val="CBD5E1"/>
            </a:solidFill>
            <a:prstDash val="solid"/>
          </a:ln>
        </p:spPr>
      </p:sp>
      <p:sp>
        <p:nvSpPr>
          <p:cNvPr id="25" name="Text 22"/>
          <p:cNvSpPr txBox="1"/>
          <p:nvPr/>
        </p:nvSpPr>
        <p:spPr>
          <a:xfrm>
            <a:off x="7132320" y="3867912"/>
            <a:ext cx="1325880" cy="201168"/>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HÀNH CHÍNH TIỆN LỢI</a:t>
            </a:r>
            <a:endParaRPr lang="en-US" sz="750" dirty="0"/>
          </a:p>
        </p:txBody>
      </p:sp>
      <p:sp>
        <p:nvSpPr>
          <p:cNvPr id="26" name="Text 23"/>
          <p:cNvSpPr txBox="1"/>
          <p:nvPr/>
        </p:nvSpPr>
        <p:spPr>
          <a:xfrm>
            <a:off x="3154680" y="4087368"/>
            <a:ext cx="521208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Cuối ngày KTV làm báo cáo vắn tắt gửi văn phòng. Tích hợp tab xin nghỉ phép/nghỉ ốm để Tech_admin duyệt ngay trên mobile /m.</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3657600" cy="228600"/>
          </a:xfrm>
          <a:prstGeom prst="rect">
            <a:avLst/>
          </a:prstGeom>
          <a:noFill/>
          <a:ln/>
        </p:spPr>
        <p:txBody>
          <a:bodyPr wrap="square" lIns="0" tIns="0" rIns="0" bIns="0" rtlCol="0" anchor="ctr"/>
          <a:lstStyle/>
          <a:p>
            <a:pPr indent="0" marL="0">
              <a:buNone/>
            </a:pPr>
            <a:r>
              <a:rPr lang="en-US" sz="900" b="1" dirty="0">
                <a:solidFill>
                  <a:srgbClr val="E11D48"/>
                </a:solidFill>
                <a:latin typeface="Arial" pitchFamily="34" charset="0"/>
                <a:ea typeface="Arial" pitchFamily="34" charset="-122"/>
                <a:cs typeface="Arial" pitchFamily="34" charset="-120"/>
              </a:rPr>
              <a:t>QUẢN TRỊ KHO VẬT TƯ</a:t>
            </a:r>
            <a:endParaRPr lang="en-US" sz="90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700" b="1" dirty="0">
                <a:solidFill>
                  <a:srgbClr val="002B7F"/>
                </a:solidFill>
                <a:latin typeface="Arial" pitchFamily="34" charset="0"/>
                <a:ea typeface="Arial" pitchFamily="34" charset="-122"/>
                <a:cs typeface="Arial" pitchFamily="34" charset="-120"/>
              </a:rPr>
              <a:t>KHO HÀNG — QUẢN LÝ VẬT TƯ &amp; CẢNH BÁO TỒN ĐA HÃNG</a:t>
            </a:r>
            <a:endParaRPr lang="en-US" sz="1700" dirty="0"/>
          </a:p>
        </p:txBody>
      </p:sp>
      <p:sp>
        <p:nvSpPr>
          <p:cNvPr id="4" name="Shape 2"/>
          <p:cNvSpPr/>
          <p:nvPr/>
        </p:nvSpPr>
        <p:spPr>
          <a:xfrm>
            <a:off x="6949440" y="411480"/>
            <a:ext cx="164592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949440" y="411480"/>
            <a:ext cx="16459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TECH_ADMIN · ADMIN</a:t>
            </a:r>
            <a:endParaRPr lang="en-US" sz="900" dirty="0"/>
          </a:p>
        </p:txBody>
      </p:sp>
      <p:pic>
        <p:nvPicPr>
          <p:cNvPr id="6" name="Image 0" descr="D:\Claude Code\App So Cong tac\scripts\pptx-assets\mockup-kho-hang.png">    </p:cNvPr>
          <p:cNvPicPr>
            <a:picLocks noChangeAspect="1"/>
          </p:cNvPicPr>
          <p:nvPr/>
        </p:nvPicPr>
        <p:blipFill>
          <a:blip r:embed="rId1"/>
          <a:stretch>
            <a:fillRect/>
          </a:stretch>
        </p:blipFill>
        <p:spPr>
          <a:xfrm>
            <a:off x="548640" y="1051560"/>
            <a:ext cx="5029200" cy="3017520"/>
          </a:xfrm>
          <a:prstGeom prst="rect">
            <a:avLst/>
          </a:prstGeom>
        </p:spPr>
      </p:pic>
      <p:sp>
        <p:nvSpPr>
          <p:cNvPr id="7" name="Shape 4"/>
          <p:cNvSpPr/>
          <p:nvPr/>
        </p:nvSpPr>
        <p:spPr>
          <a:xfrm>
            <a:off x="5760720" y="1051560"/>
            <a:ext cx="2834640" cy="777240"/>
          </a:xfrm>
          <a:prstGeom prst="roundRect">
            <a:avLst>
              <a:gd name="adj" fmla="val 9412"/>
            </a:avLst>
          </a:prstGeom>
          <a:solidFill>
            <a:srgbClr val="FFFFFF"/>
          </a:solidFill>
          <a:ln w="12700">
            <a:solidFill>
              <a:srgbClr val="E2E8F0"/>
            </a:solidFill>
            <a:prstDash val="solid"/>
          </a:ln>
        </p:spPr>
      </p:sp>
      <p:sp>
        <p:nvSpPr>
          <p:cNvPr id="8" name="Text 5"/>
          <p:cNvSpPr txBox="1"/>
          <p:nvPr/>
        </p:nvSpPr>
        <p:spPr>
          <a:xfrm>
            <a:off x="5897880" y="11247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1. Cảnh báo tồn kho đa hãng (Mig 72)</a:t>
            </a:r>
            <a:endParaRPr lang="en-US" sz="950" dirty="0"/>
          </a:p>
        </p:txBody>
      </p:sp>
      <p:sp>
        <p:nvSpPr>
          <p:cNvPr id="9" name="Text 6"/>
          <p:cNvSpPr txBox="1"/>
          <p:nvPr/>
        </p:nvSpPr>
        <p:spPr>
          <a:xfrm>
            <a:off x="5897880" y="13441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Thiết lập ngưỡng tồn an toàn riêng cho từng mặt hàng (Konica, Xerox, Ricoh...). Khi tồn thực tế &lt;= ngưỡng, hệ thống lập tức báo đỏ và gom vào danh sách cần mua.</a:t>
            </a:r>
            <a:endParaRPr lang="en-US" sz="850" dirty="0"/>
          </a:p>
        </p:txBody>
      </p:sp>
      <p:sp>
        <p:nvSpPr>
          <p:cNvPr id="10" name="Shape 7"/>
          <p:cNvSpPr/>
          <p:nvPr/>
        </p:nvSpPr>
        <p:spPr>
          <a:xfrm>
            <a:off x="5760720" y="1965960"/>
            <a:ext cx="2834640" cy="777240"/>
          </a:xfrm>
          <a:prstGeom prst="roundRect">
            <a:avLst>
              <a:gd name="adj" fmla="val 9412"/>
            </a:avLst>
          </a:prstGeom>
          <a:solidFill>
            <a:srgbClr val="FFFFFF"/>
          </a:solidFill>
          <a:ln w="12700">
            <a:solidFill>
              <a:srgbClr val="E2E8F0"/>
            </a:solidFill>
            <a:prstDash val="solid"/>
          </a:ln>
        </p:spPr>
      </p:sp>
      <p:sp>
        <p:nvSpPr>
          <p:cNvPr id="11" name="Text 8"/>
          <p:cNvSpPr txBox="1"/>
          <p:nvPr/>
        </p:nvSpPr>
        <p:spPr>
          <a:xfrm>
            <a:off x="5897880" y="20391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2. Mã ngưng dùng &amp; Mã thay thế (Mig 73)</a:t>
            </a:r>
            <a:endParaRPr lang="en-US" sz="950" dirty="0"/>
          </a:p>
        </p:txBody>
      </p:sp>
      <p:sp>
        <p:nvSpPr>
          <p:cNvPr id="12" name="Text 9"/>
          <p:cNvSpPr txBox="1"/>
          <p:nvPr/>
        </p:nvSpPr>
        <p:spPr>
          <a:xfrm>
            <a:off x="5897880" y="22585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Khi nhà sản xuất đổi mã hàng, hệ thống đánh dấu "Ngưng sử dụng" kèm "Mã thay thế". Ưu tiên xuất hết hàng tồn cũ trước khi chuyển sang mã mới.</a:t>
            </a:r>
            <a:endParaRPr lang="en-US" sz="850" dirty="0"/>
          </a:p>
        </p:txBody>
      </p:sp>
      <p:sp>
        <p:nvSpPr>
          <p:cNvPr id="13" name="Shape 10"/>
          <p:cNvSpPr/>
          <p:nvPr/>
        </p:nvSpPr>
        <p:spPr>
          <a:xfrm>
            <a:off x="5760720" y="2880360"/>
            <a:ext cx="2834640" cy="777240"/>
          </a:xfrm>
          <a:prstGeom prst="roundRect">
            <a:avLst>
              <a:gd name="adj" fmla="val 9412"/>
            </a:avLst>
          </a:prstGeom>
          <a:solidFill>
            <a:srgbClr val="FFFFFF"/>
          </a:solidFill>
          <a:ln w="12700">
            <a:solidFill>
              <a:srgbClr val="E2E8F0"/>
            </a:solidFill>
            <a:prstDash val="solid"/>
          </a:ln>
        </p:spPr>
      </p:sp>
      <p:sp>
        <p:nvSpPr>
          <p:cNvPr id="14" name="Text 11"/>
          <p:cNvSpPr txBox="1"/>
          <p:nvPr/>
        </p:nvSpPr>
        <p:spPr>
          <a:xfrm>
            <a:off x="5897880" y="29535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3. Cơ chế trừ kho phản ứng (Reactive Trigger)</a:t>
            </a:r>
            <a:endParaRPr lang="en-US" sz="950" dirty="0"/>
          </a:p>
        </p:txBody>
      </p:sp>
      <p:sp>
        <p:nvSpPr>
          <p:cNvPr id="15" name="Text 12"/>
          <p:cNvSpPr txBox="1"/>
          <p:nvPr/>
        </p:nvSpPr>
        <p:spPr>
          <a:xfrm>
            <a:off x="5897880" y="31729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Tồn kho chỉ bị trừ tự động khi phiếu chuyển sang "Hoàn thành". Khi sửa phiếu hoặc hoàn trả vật tư, database tự động bù trừ net-zero cực kỳ an toàn.</a:t>
            </a:r>
            <a:endParaRPr lang="en-US" sz="850" dirty="0"/>
          </a:p>
        </p:txBody>
      </p:sp>
      <p:sp>
        <p:nvSpPr>
          <p:cNvPr id="16" name="Shape 13"/>
          <p:cNvSpPr/>
          <p:nvPr/>
        </p:nvSpPr>
        <p:spPr>
          <a:xfrm>
            <a:off x="5760720" y="3794760"/>
            <a:ext cx="2834640" cy="777240"/>
          </a:xfrm>
          <a:prstGeom prst="roundRect">
            <a:avLst>
              <a:gd name="adj" fmla="val 9412"/>
            </a:avLst>
          </a:prstGeom>
          <a:solidFill>
            <a:srgbClr val="FFFFFF"/>
          </a:solidFill>
          <a:ln w="12700">
            <a:solidFill>
              <a:srgbClr val="E2E8F0"/>
            </a:solidFill>
            <a:prstDash val="solid"/>
          </a:ln>
        </p:spPr>
      </p:sp>
      <p:sp>
        <p:nvSpPr>
          <p:cNvPr id="17" name="Text 14"/>
          <p:cNvSpPr txBox="1"/>
          <p:nvPr/>
        </p:nvSpPr>
        <p:spPr>
          <a:xfrm>
            <a:off x="5897880" y="38679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4. Tồn khả dụng vs Tồn thực tế</a:t>
            </a:r>
            <a:endParaRPr lang="en-US" sz="950" dirty="0"/>
          </a:p>
        </p:txBody>
      </p:sp>
      <p:sp>
        <p:nvSpPr>
          <p:cNvPr id="18" name="Text 15"/>
          <p:cNvSpPr txBox="1"/>
          <p:nvPr/>
        </p:nvSpPr>
        <p:spPr>
          <a:xfrm>
            <a:off x="5897880" y="40873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Tồn khả dụng = Tồn thực tế trong kho trừ đi Số lượng đang giữ cho các phiếu đã giao nhưng chưa bấm hoàn thành, chống xuất đúp vật tư.</a:t>
            </a:r>
            <a:endParaRPr lang="en-US" sz="850" dirty="0"/>
          </a:p>
        </p:txBody>
      </p:sp>
      <p:sp>
        <p:nvSpPr>
          <p:cNvPr id="19" name="Shape 16"/>
          <p:cNvSpPr/>
          <p:nvPr/>
        </p:nvSpPr>
        <p:spPr>
          <a:xfrm>
            <a:off x="548640" y="4251960"/>
            <a:ext cx="5029200" cy="457200"/>
          </a:xfrm>
          <a:prstGeom prst="roundRect">
            <a:avLst>
              <a:gd name="adj" fmla="val 16000"/>
            </a:avLst>
          </a:prstGeom>
          <a:solidFill>
            <a:srgbClr val="EFF6FF"/>
          </a:solidFill>
          <a:ln w="12700">
            <a:solidFill>
              <a:srgbClr val="BFDBFE"/>
            </a:solidFill>
            <a:prstDash val="solid"/>
          </a:ln>
        </p:spPr>
      </p:sp>
      <p:sp>
        <p:nvSpPr>
          <p:cNvPr id="20" name="Text 17"/>
          <p:cNvSpPr txBox="1"/>
          <p:nvPr/>
        </p:nvSpPr>
        <p:spPr>
          <a:xfrm>
            <a:off x="731520" y="4343400"/>
            <a:ext cx="4663440" cy="274320"/>
          </a:xfrm>
          <a:prstGeom prst="rect">
            <a:avLst/>
          </a:prstGeom>
          <a:noFill/>
          <a:ln/>
        </p:spPr>
        <p:txBody>
          <a:bodyPr wrap="square" lIns="0" tIns="0" rIns="0" bIns="0" rtlCol="0" anchor="ctr"/>
          <a:lstStyle/>
          <a:p>
            <a:pPr indent="0" marL="0">
              <a:buNone/>
            </a:pPr>
            <a:r>
              <a:rPr lang="en-US" sz="850" b="1" dirty="0">
                <a:solidFill>
                  <a:srgbClr val="0047AB"/>
                </a:solidFill>
                <a:latin typeface="Calibri" pitchFamily="34" charset="0"/>
                <a:ea typeface="Calibri" pitchFamily="34" charset="-122"/>
                <a:cs typeface="Calibri" pitchFamily="34" charset="-120"/>
              </a:rPr>
              <a:t>🔔 Chuông cảnh báo thông minh tại Header luôn hiển thị số lượng vật tư chạm ngưỡng nguy hiểm để văn phòng kịp thời đặt hàng dự phòng.</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3657600" cy="228600"/>
          </a:xfrm>
          <a:prstGeom prst="rect">
            <a:avLst/>
          </a:prstGeom>
          <a:noFill/>
          <a:ln/>
        </p:spPr>
        <p:txBody>
          <a:bodyPr wrap="square" lIns="0" tIns="0" rIns="0" bIns="0" rtlCol="0" anchor="ctr"/>
          <a:lstStyle/>
          <a:p>
            <a:pPr indent="0" marL="0">
              <a:buNone/>
            </a:pPr>
            <a:r>
              <a:rPr lang="en-US" sz="900" b="1" dirty="0">
                <a:solidFill>
                  <a:srgbClr val="E11D48"/>
                </a:solidFill>
                <a:latin typeface="Arial" pitchFamily="34" charset="0"/>
                <a:ea typeface="Arial" pitchFamily="34" charset="-122"/>
                <a:cs typeface="Arial" pitchFamily="34" charset="-120"/>
              </a:rPr>
              <a:t>MUA SẮM VẬT TƯ</a:t>
            </a:r>
            <a:endParaRPr lang="en-US" sz="90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700" b="1" dirty="0">
                <a:solidFill>
                  <a:srgbClr val="002B7F"/>
                </a:solidFill>
                <a:latin typeface="Arial" pitchFamily="34" charset="0"/>
                <a:ea typeface="Arial" pitchFamily="34" charset="-122"/>
                <a:cs typeface="Arial" pitchFamily="34" charset="-120"/>
              </a:rPr>
              <a:t>KHO HÀNG — QUY TRÌNH ĐẶT HÀNG PO &amp; BẢO VỆ TỒN KHO</a:t>
            </a:r>
            <a:endParaRPr lang="en-US" sz="1700" dirty="0"/>
          </a:p>
        </p:txBody>
      </p:sp>
      <p:sp>
        <p:nvSpPr>
          <p:cNvPr id="4" name="Shape 2"/>
          <p:cNvSpPr/>
          <p:nvPr/>
        </p:nvSpPr>
        <p:spPr>
          <a:xfrm>
            <a:off x="6949440" y="411480"/>
            <a:ext cx="164592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949440" y="411480"/>
            <a:ext cx="16459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TECH_ADMIN · ADMIN</a:t>
            </a:r>
            <a:endParaRPr lang="en-US" sz="900" dirty="0"/>
          </a:p>
        </p:txBody>
      </p:sp>
      <p:pic>
        <p:nvPicPr>
          <p:cNvPr id="6" name="Image 0" descr="D:\Claude Code\App So Cong tac\scripts\pptx-assets\mockup-dat-hang.png">    </p:cNvPr>
          <p:cNvPicPr>
            <a:picLocks noChangeAspect="1"/>
          </p:cNvPicPr>
          <p:nvPr/>
        </p:nvPicPr>
        <p:blipFill>
          <a:blip r:embed="rId1"/>
          <a:stretch>
            <a:fillRect/>
          </a:stretch>
        </p:blipFill>
        <p:spPr>
          <a:xfrm>
            <a:off x="548640" y="1051560"/>
            <a:ext cx="5029200" cy="3017520"/>
          </a:xfrm>
          <a:prstGeom prst="rect">
            <a:avLst/>
          </a:prstGeom>
        </p:spPr>
      </p:pic>
      <p:sp>
        <p:nvSpPr>
          <p:cNvPr id="7" name="Shape 4"/>
          <p:cNvSpPr/>
          <p:nvPr/>
        </p:nvSpPr>
        <p:spPr>
          <a:xfrm>
            <a:off x="5760720" y="1051560"/>
            <a:ext cx="2834640" cy="685800"/>
          </a:xfrm>
          <a:prstGeom prst="roundRect">
            <a:avLst>
              <a:gd name="adj" fmla="val 10667"/>
            </a:avLst>
          </a:prstGeom>
          <a:solidFill>
            <a:srgbClr val="FFFFFF"/>
          </a:solidFill>
          <a:ln w="12700">
            <a:solidFill>
              <a:srgbClr val="E2E8F0"/>
            </a:solidFill>
            <a:prstDash val="solid"/>
          </a:ln>
        </p:spPr>
      </p:sp>
      <p:sp>
        <p:nvSpPr>
          <p:cNvPr id="8" name="Text 5"/>
          <p:cNvSpPr txBox="1"/>
          <p:nvPr/>
        </p:nvSpPr>
        <p:spPr>
          <a:xfrm>
            <a:off x="5897880" y="1106424"/>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BƯỚC 1: Rà soát &amp; Chọn vật tư</a:t>
            </a:r>
            <a:endParaRPr lang="en-US" sz="950" dirty="0"/>
          </a:p>
        </p:txBody>
      </p:sp>
      <p:sp>
        <p:nvSpPr>
          <p:cNvPr id="9" name="Text 6"/>
          <p:cNvSpPr txBox="1"/>
          <p:nvPr/>
        </p:nvSpPr>
        <p:spPr>
          <a:xfrm>
            <a:off x="5897880" y="1307592"/>
            <a:ext cx="2560320" cy="38404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Lọc nhanh các vật tư dưới ngưỡng hoặc hết hàng. Nhập số lượng dự kiến và bấm "+ Giỏ" để đưa vào giỏ hàng tạm thời.</a:t>
            </a:r>
            <a:endParaRPr lang="en-US" sz="850" dirty="0"/>
          </a:p>
        </p:txBody>
      </p:sp>
      <p:sp>
        <p:nvSpPr>
          <p:cNvPr id="10" name="Shape 7"/>
          <p:cNvSpPr/>
          <p:nvPr/>
        </p:nvSpPr>
        <p:spPr>
          <a:xfrm>
            <a:off x="5760720" y="1874520"/>
            <a:ext cx="2834640" cy="685800"/>
          </a:xfrm>
          <a:prstGeom prst="roundRect">
            <a:avLst>
              <a:gd name="adj" fmla="val 10667"/>
            </a:avLst>
          </a:prstGeom>
          <a:solidFill>
            <a:srgbClr val="FFFFFF"/>
          </a:solidFill>
          <a:ln w="12700">
            <a:solidFill>
              <a:srgbClr val="E2E8F0"/>
            </a:solidFill>
            <a:prstDash val="solid"/>
          </a:ln>
        </p:spPr>
      </p:sp>
      <p:sp>
        <p:nvSpPr>
          <p:cNvPr id="11" name="Text 8"/>
          <p:cNvSpPr txBox="1"/>
          <p:nvPr/>
        </p:nvSpPr>
        <p:spPr>
          <a:xfrm>
            <a:off x="5897880" y="1929384"/>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BƯỚC 2: Tạo đơn đặt hàng PO Nháp</a:t>
            </a:r>
            <a:endParaRPr lang="en-US" sz="950" dirty="0"/>
          </a:p>
        </p:txBody>
      </p:sp>
      <p:sp>
        <p:nvSpPr>
          <p:cNvPr id="12" name="Text 9"/>
          <p:cNvSpPr txBox="1"/>
          <p:nvPr/>
        </p:nvSpPr>
        <p:spPr>
          <a:xfrm>
            <a:off x="5897880" y="2130552"/>
            <a:ext cx="2560320" cy="38404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Office kiểm tra giỏ hàng 2 cột cân đối, bấm "Tạo đơn PO Nháp". Giỏ hàng được giữ nguyên trạng thái nếu chuyển tab.</a:t>
            </a:r>
            <a:endParaRPr lang="en-US" sz="850" dirty="0"/>
          </a:p>
        </p:txBody>
      </p:sp>
      <p:sp>
        <p:nvSpPr>
          <p:cNvPr id="13" name="Shape 10"/>
          <p:cNvSpPr/>
          <p:nvPr/>
        </p:nvSpPr>
        <p:spPr>
          <a:xfrm>
            <a:off x="5760720" y="2697480"/>
            <a:ext cx="2834640" cy="685800"/>
          </a:xfrm>
          <a:prstGeom prst="roundRect">
            <a:avLst>
              <a:gd name="adj" fmla="val 10667"/>
            </a:avLst>
          </a:prstGeom>
          <a:solidFill>
            <a:srgbClr val="FFFFFF"/>
          </a:solidFill>
          <a:ln w="12700">
            <a:solidFill>
              <a:srgbClr val="E2E8F0"/>
            </a:solidFill>
            <a:prstDash val="solid"/>
          </a:ln>
        </p:spPr>
      </p:sp>
      <p:sp>
        <p:nvSpPr>
          <p:cNvPr id="14" name="Text 11"/>
          <p:cNvSpPr txBox="1"/>
          <p:nvPr/>
        </p:nvSpPr>
        <p:spPr>
          <a:xfrm>
            <a:off x="5897880" y="2752344"/>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BƯỚC 3: Xuất Excel gửi Nhà Cung Cấp</a:t>
            </a:r>
            <a:endParaRPr lang="en-US" sz="950" dirty="0"/>
          </a:p>
        </p:txBody>
      </p:sp>
      <p:sp>
        <p:nvSpPr>
          <p:cNvPr id="15" name="Text 12"/>
          <p:cNvSpPr txBox="1"/>
          <p:nvPr/>
        </p:nvSpPr>
        <p:spPr>
          <a:xfrm>
            <a:off x="5897880" y="2953512"/>
            <a:ext cx="2560320" cy="38404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Xuất file Excel đơn đặt hàng 8 cột chuẩn hóa gửi cho nhà cung cấp vật tư. Đơn hàng chuyển sang trạng thái "Đang đặt".</a:t>
            </a:r>
            <a:endParaRPr lang="en-US" sz="850" dirty="0"/>
          </a:p>
        </p:txBody>
      </p:sp>
      <p:sp>
        <p:nvSpPr>
          <p:cNvPr id="16" name="Shape 13"/>
          <p:cNvSpPr/>
          <p:nvPr/>
        </p:nvSpPr>
        <p:spPr>
          <a:xfrm>
            <a:off x="5760720" y="3520440"/>
            <a:ext cx="2834640" cy="685800"/>
          </a:xfrm>
          <a:prstGeom prst="roundRect">
            <a:avLst>
              <a:gd name="adj" fmla="val 10667"/>
            </a:avLst>
          </a:prstGeom>
          <a:solidFill>
            <a:srgbClr val="FFFFFF"/>
          </a:solidFill>
          <a:ln w="12700">
            <a:solidFill>
              <a:srgbClr val="E2E8F0"/>
            </a:solidFill>
            <a:prstDash val="solid"/>
          </a:ln>
        </p:spPr>
      </p:sp>
      <p:sp>
        <p:nvSpPr>
          <p:cNvPr id="17" name="Text 14"/>
          <p:cNvSpPr txBox="1"/>
          <p:nvPr/>
        </p:nvSpPr>
        <p:spPr>
          <a:xfrm>
            <a:off x="5897880" y="3575304"/>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BƯỚC 4: Ghi hàng về theo Mã Thực (Admin)</a:t>
            </a:r>
            <a:endParaRPr lang="en-US" sz="950" dirty="0"/>
          </a:p>
        </p:txBody>
      </p:sp>
      <p:sp>
        <p:nvSpPr>
          <p:cNvPr id="18" name="Text 15"/>
          <p:cNvSpPr txBox="1"/>
          <p:nvPr/>
        </p:nvSpPr>
        <p:spPr>
          <a:xfrm>
            <a:off x="5897880" y="3776472"/>
            <a:ext cx="2560320" cy="38404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Khi hàng về, chỉ Admin được ghi nhận nhập kho từng đợt (Mig 63). Nếu NCC giao model thay thế, cho phép ghi nhận mã thực nhận.</a:t>
            </a:r>
            <a:endParaRPr lang="en-US" sz="850" dirty="0"/>
          </a:p>
        </p:txBody>
      </p:sp>
      <p:sp>
        <p:nvSpPr>
          <p:cNvPr id="19" name="Shape 16"/>
          <p:cNvSpPr/>
          <p:nvPr/>
        </p:nvSpPr>
        <p:spPr>
          <a:xfrm>
            <a:off x="548640" y="4251960"/>
            <a:ext cx="8046720" cy="457200"/>
          </a:xfrm>
          <a:prstGeom prst="roundRect">
            <a:avLst>
              <a:gd name="adj" fmla="val 16000"/>
            </a:avLst>
          </a:prstGeom>
          <a:solidFill>
            <a:srgbClr val="FEF2F2"/>
          </a:solidFill>
          <a:ln w="12700">
            <a:solidFill>
              <a:srgbClr val="FECDD3"/>
            </a:solidFill>
            <a:prstDash val="solid"/>
          </a:ln>
        </p:spPr>
      </p:sp>
      <p:sp>
        <p:nvSpPr>
          <p:cNvPr id="20" name="Text 17"/>
          <p:cNvSpPr txBox="1"/>
          <p:nvPr/>
        </p:nvSpPr>
        <p:spPr>
          <a:xfrm>
            <a:off x="731520" y="4343400"/>
            <a:ext cx="7680960" cy="274320"/>
          </a:xfrm>
          <a:prstGeom prst="rect">
            <a:avLst/>
          </a:prstGeom>
          <a:noFill/>
          <a:ln/>
        </p:spPr>
        <p:txBody>
          <a:bodyPr wrap="square" lIns="0" tIns="0" rIns="0" bIns="0" rtlCol="0" anchor="ctr"/>
          <a:lstStyle/>
          <a:p>
            <a:pPr indent="0" marL="0">
              <a:buNone/>
            </a:pPr>
            <a:r>
              <a:rPr lang="en-US" sz="900" b="1" dirty="0">
                <a:solidFill>
                  <a:srgbClr val="E11D48"/>
                </a:solidFill>
                <a:latin typeface="Calibri" pitchFamily="34" charset="0"/>
                <a:ea typeface="Calibri" pitchFamily="34" charset="-122"/>
                <a:cs typeface="Calibri" pitchFamily="34" charset="-120"/>
              </a:rPr>
              <a:t>🔒 CƠ CHẾ BẢO VỆ TỒN KHO: Đơn đặt hàng đã có đợt hàng về sẽ bị KHÓA CỨNG (chặn sửa cấu trúc hoặc hủy về nháp) để tránh sai lệch số liệu.</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3657600" cy="228600"/>
          </a:xfrm>
          <a:prstGeom prst="rect">
            <a:avLst/>
          </a:prstGeom>
          <a:noFill/>
          <a:ln/>
        </p:spPr>
        <p:txBody>
          <a:bodyPr wrap="square" lIns="0" tIns="0" rIns="0" bIns="0" rtlCol="0" anchor="ctr"/>
          <a:lstStyle/>
          <a:p>
            <a:pPr indent="0" marL="0">
              <a:buNone/>
            </a:pPr>
            <a:r>
              <a:rPr lang="en-US" sz="900" b="1" dirty="0">
                <a:solidFill>
                  <a:srgbClr val="E11D48"/>
                </a:solidFill>
                <a:latin typeface="Arial" pitchFamily="34" charset="0"/>
                <a:ea typeface="Arial" pitchFamily="34" charset="-122"/>
                <a:cs typeface="Arial" pitchFamily="34" charset="-120"/>
              </a:rPr>
              <a:t>CHĂM SÓC KHÁCH HÀNG</a:t>
            </a:r>
            <a:endParaRPr lang="en-US" sz="90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700" b="1" dirty="0">
                <a:solidFill>
                  <a:srgbClr val="002B7F"/>
                </a:solidFill>
                <a:latin typeface="Arial" pitchFamily="34" charset="0"/>
                <a:ea typeface="Arial" pitchFamily="34" charset="-122"/>
                <a:cs typeface="Arial" pitchFamily="34" charset="-120"/>
              </a:rPr>
              <a:t>THEO DÕI MÁY — MA TRẬN BẢO TRÌ 12 THÁNG &amp; GIÁM ĐỊNH</a:t>
            </a:r>
            <a:endParaRPr lang="en-US" sz="1700" dirty="0"/>
          </a:p>
        </p:txBody>
      </p:sp>
      <p:sp>
        <p:nvSpPr>
          <p:cNvPr id="4" name="Shape 2"/>
          <p:cNvSpPr/>
          <p:nvPr/>
        </p:nvSpPr>
        <p:spPr>
          <a:xfrm>
            <a:off x="6949440" y="411480"/>
            <a:ext cx="164592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949440" y="411480"/>
            <a:ext cx="16459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TECH_ADMIN · KTV</a:t>
            </a:r>
            <a:endParaRPr lang="en-US" sz="900" dirty="0"/>
          </a:p>
        </p:txBody>
      </p:sp>
      <p:pic>
        <p:nvPicPr>
          <p:cNvPr id="6" name="Image 0" descr="D:\Claude Code\App So Cong tac\scripts\pptx-assets\mockup-bao-tri.png">    </p:cNvPr>
          <p:cNvPicPr>
            <a:picLocks noChangeAspect="1"/>
          </p:cNvPicPr>
          <p:nvPr/>
        </p:nvPicPr>
        <p:blipFill>
          <a:blip r:embed="rId1"/>
          <a:stretch>
            <a:fillRect/>
          </a:stretch>
        </p:blipFill>
        <p:spPr>
          <a:xfrm>
            <a:off x="548640" y="1051560"/>
            <a:ext cx="5029200" cy="3017520"/>
          </a:xfrm>
          <a:prstGeom prst="rect">
            <a:avLst/>
          </a:prstGeom>
        </p:spPr>
      </p:pic>
      <p:sp>
        <p:nvSpPr>
          <p:cNvPr id="7" name="Shape 4"/>
          <p:cNvSpPr/>
          <p:nvPr/>
        </p:nvSpPr>
        <p:spPr>
          <a:xfrm>
            <a:off x="5760720" y="1051560"/>
            <a:ext cx="2834640" cy="777240"/>
          </a:xfrm>
          <a:prstGeom prst="roundRect">
            <a:avLst>
              <a:gd name="adj" fmla="val 9412"/>
            </a:avLst>
          </a:prstGeom>
          <a:solidFill>
            <a:srgbClr val="FFFFFF"/>
          </a:solidFill>
          <a:ln w="12700">
            <a:solidFill>
              <a:srgbClr val="E2E8F0"/>
            </a:solidFill>
            <a:prstDash val="solid"/>
          </a:ln>
        </p:spPr>
      </p:sp>
      <p:sp>
        <p:nvSpPr>
          <p:cNvPr id="8" name="Text 5"/>
          <p:cNvSpPr txBox="1"/>
          <p:nvPr/>
        </p:nvSpPr>
        <p:spPr>
          <a:xfrm>
            <a:off x="5897880" y="11247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1. Ma trận đối chiếu 12 tháng minh bạch</a:t>
            </a:r>
            <a:endParaRPr lang="en-US" sz="950" dirty="0"/>
          </a:p>
        </p:txBody>
      </p:sp>
      <p:sp>
        <p:nvSpPr>
          <p:cNvPr id="9" name="Text 6"/>
          <p:cNvSpPr txBox="1"/>
          <p:nvPr/>
        </p:nvSpPr>
        <p:spPr>
          <a:xfrm>
            <a:off x="5897880" y="13441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Mỗi máy hiển thị rõ 12 cột tháng: ✓ Đã làm, ✕ Quá hạn, · Chưa tới, N Tạm dừng. Tính toán chính xác số lần thiếu thực tế để quyết toán khách hàng.</a:t>
            </a:r>
            <a:endParaRPr lang="en-US" sz="850" dirty="0"/>
          </a:p>
        </p:txBody>
      </p:sp>
      <p:sp>
        <p:nvSpPr>
          <p:cNvPr id="10" name="Shape 7"/>
          <p:cNvSpPr/>
          <p:nvPr/>
        </p:nvSpPr>
        <p:spPr>
          <a:xfrm>
            <a:off x="5760720" y="1965960"/>
            <a:ext cx="2834640" cy="777240"/>
          </a:xfrm>
          <a:prstGeom prst="roundRect">
            <a:avLst>
              <a:gd name="adj" fmla="val 9412"/>
            </a:avLst>
          </a:prstGeom>
          <a:solidFill>
            <a:srgbClr val="FFFFFF"/>
          </a:solidFill>
          <a:ln w="12700">
            <a:solidFill>
              <a:srgbClr val="E2E8F0"/>
            </a:solidFill>
            <a:prstDash val="solid"/>
          </a:ln>
        </p:spPr>
      </p:sp>
      <p:sp>
        <p:nvSpPr>
          <p:cNvPr id="11" name="Text 8"/>
          <p:cNvSpPr txBox="1"/>
          <p:nvPr/>
        </p:nvSpPr>
        <p:spPr>
          <a:xfrm>
            <a:off x="5897880" y="20391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2. Lịch bảo trì theo chu kỳ riêng (Mig 28)</a:t>
            </a:r>
            <a:endParaRPr lang="en-US" sz="950" dirty="0"/>
          </a:p>
        </p:txBody>
      </p:sp>
      <p:sp>
        <p:nvSpPr>
          <p:cNvPr id="12" name="Text 9"/>
          <p:cNvSpPr txBox="1"/>
          <p:nvPr/>
        </p:nvSpPr>
        <p:spPr>
          <a:xfrm>
            <a:off x="5897880" y="22585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Hỗ trợ cấu hình máy bảo trì 1 tháng, 2 tháng, hoặc theo quý. Máy không bị đòi oan ở những tháng không có trong hợp đồng.</a:t>
            </a:r>
            <a:endParaRPr lang="en-US" sz="850" dirty="0"/>
          </a:p>
        </p:txBody>
      </p:sp>
      <p:sp>
        <p:nvSpPr>
          <p:cNvPr id="13" name="Shape 10"/>
          <p:cNvSpPr/>
          <p:nvPr/>
        </p:nvSpPr>
        <p:spPr>
          <a:xfrm>
            <a:off x="5760720" y="2880360"/>
            <a:ext cx="2834640" cy="777240"/>
          </a:xfrm>
          <a:prstGeom prst="roundRect">
            <a:avLst>
              <a:gd name="adj" fmla="val 9412"/>
            </a:avLst>
          </a:prstGeom>
          <a:solidFill>
            <a:srgbClr val="FFFFFF"/>
          </a:solidFill>
          <a:ln w="12700">
            <a:solidFill>
              <a:srgbClr val="E2E8F0"/>
            </a:solidFill>
            <a:prstDash val="solid"/>
          </a:ln>
        </p:spPr>
      </p:sp>
      <p:sp>
        <p:nvSpPr>
          <p:cNvPr id="14" name="Text 11"/>
          <p:cNvSpPr txBox="1"/>
          <p:nvPr/>
        </p:nvSpPr>
        <p:spPr>
          <a:xfrm>
            <a:off x="5897880" y="29535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3. Giám định ➔ Tự động tạo Báo giá 4 trang</a:t>
            </a:r>
            <a:endParaRPr lang="en-US" sz="950" dirty="0"/>
          </a:p>
        </p:txBody>
      </p:sp>
      <p:sp>
        <p:nvSpPr>
          <p:cNvPr id="15" name="Text 12"/>
          <p:cNvSpPr txBox="1"/>
          <p:nvPr/>
        </p:nvSpPr>
        <p:spPr>
          <a:xfrm>
            <a:off x="5897880" y="31729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Biên bản giám định linh kiện hao mòn tự động liên kết tạo Báo giá .docx 4 trang với 3 mức cạnh tranh (+3%, +5%, +6%) chuyên nghiệp.</a:t>
            </a:r>
            <a:endParaRPr lang="en-US" sz="850" dirty="0"/>
          </a:p>
        </p:txBody>
      </p:sp>
      <p:sp>
        <p:nvSpPr>
          <p:cNvPr id="16" name="Shape 13"/>
          <p:cNvSpPr/>
          <p:nvPr/>
        </p:nvSpPr>
        <p:spPr>
          <a:xfrm>
            <a:off x="5760720" y="3794760"/>
            <a:ext cx="2834640" cy="777240"/>
          </a:xfrm>
          <a:prstGeom prst="roundRect">
            <a:avLst>
              <a:gd name="adj" fmla="val 9412"/>
            </a:avLst>
          </a:prstGeom>
          <a:solidFill>
            <a:srgbClr val="FFFFFF"/>
          </a:solidFill>
          <a:ln w="12700">
            <a:solidFill>
              <a:srgbClr val="E2E8F0"/>
            </a:solidFill>
            <a:prstDash val="solid"/>
          </a:ln>
        </p:spPr>
      </p:sp>
      <p:sp>
        <p:nvSpPr>
          <p:cNvPr id="17" name="Text 14"/>
          <p:cNvSpPr txBox="1"/>
          <p:nvPr/>
        </p:nvSpPr>
        <p:spPr>
          <a:xfrm>
            <a:off x="5897880" y="38679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4. In Sổ theo dõi máy kèm QR Code</a:t>
            </a:r>
            <a:endParaRPr lang="en-US" sz="950" dirty="0"/>
          </a:p>
        </p:txBody>
      </p:sp>
      <p:sp>
        <p:nvSpPr>
          <p:cNvPr id="18" name="Text 15"/>
          <p:cNvSpPr txBox="1"/>
          <p:nvPr/>
        </p:nvSpPr>
        <p:spPr>
          <a:xfrm>
            <a:off x="5897880" y="40873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Hỗ trợ in 2 trang A4 ngang chuẩn chỉnh có mã QR để dán lên thân máy khách hàng. KTV chỉ cần quét QR để tra cứu lịch sử.</a:t>
            </a:r>
            <a:endParaRPr lang="en-US" sz="850" dirty="0"/>
          </a:p>
        </p:txBody>
      </p:sp>
      <p:sp>
        <p:nvSpPr>
          <p:cNvPr id="19" name="Shape 16"/>
          <p:cNvSpPr/>
          <p:nvPr/>
        </p:nvSpPr>
        <p:spPr>
          <a:xfrm>
            <a:off x="548640" y="4251960"/>
            <a:ext cx="5029200" cy="457200"/>
          </a:xfrm>
          <a:prstGeom prst="roundRect">
            <a:avLst>
              <a:gd name="adj" fmla="val 16000"/>
            </a:avLst>
          </a:prstGeom>
          <a:solidFill>
            <a:srgbClr val="F0FDF4"/>
          </a:solidFill>
          <a:ln w="12700">
            <a:solidFill>
              <a:srgbClr val="BBF7D0"/>
            </a:solidFill>
            <a:prstDash val="solid"/>
          </a:ln>
        </p:spPr>
      </p:sp>
      <p:sp>
        <p:nvSpPr>
          <p:cNvPr id="20" name="Text 17"/>
          <p:cNvSpPr txBox="1"/>
          <p:nvPr/>
        </p:nvSpPr>
        <p:spPr>
          <a:xfrm>
            <a:off x="731520" y="4343400"/>
            <a:ext cx="4663440" cy="274320"/>
          </a:xfrm>
          <a:prstGeom prst="rect">
            <a:avLst/>
          </a:prstGeom>
          <a:noFill/>
          <a:ln/>
        </p:spPr>
        <p:txBody>
          <a:bodyPr wrap="square" lIns="0" tIns="0" rIns="0" bIns="0" rtlCol="0" anchor="ctr"/>
          <a:lstStyle/>
          <a:p>
            <a:pPr indent="0" marL="0">
              <a:buNone/>
            </a:pPr>
            <a:r>
              <a:rPr lang="en-US" sz="850" b="1" dirty="0">
                <a:solidFill>
                  <a:srgbClr val="059669"/>
                </a:solidFill>
                <a:latin typeface="Calibri" pitchFamily="34" charset="0"/>
                <a:ea typeface="Calibri" pitchFamily="34" charset="-122"/>
                <a:cs typeface="Calibri" pitchFamily="34" charset="-120"/>
              </a:rPr>
              <a:t>📑 Tính năng Xuất Excel Đối Chiếu Năm: Giúp phòng Hành chính xuất báo cáo quyết toán nhanh chóng chỉ với 1 click chuột.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3657600" cy="228600"/>
          </a:xfrm>
          <a:prstGeom prst="rect">
            <a:avLst/>
          </a:prstGeom>
          <a:noFill/>
          <a:ln/>
        </p:spPr>
        <p:txBody>
          <a:bodyPr wrap="square" lIns="0" tIns="0" rIns="0" bIns="0" rtlCol="0" anchor="ctr"/>
          <a:lstStyle/>
          <a:p>
            <a:pPr indent="0" marL="0">
              <a:buNone/>
            </a:pPr>
            <a:r>
              <a:rPr lang="en-US" sz="900" b="1" dirty="0">
                <a:solidFill>
                  <a:srgbClr val="E11D48"/>
                </a:solidFill>
                <a:latin typeface="Arial" pitchFamily="34" charset="0"/>
                <a:ea typeface="Arial" pitchFamily="34" charset="-122"/>
                <a:cs typeface="Arial" pitchFamily="34" charset="-120"/>
              </a:rPr>
              <a:t>QUY TRÌNH KẾ TOÁN &amp; CÔNG NỢ</a:t>
            </a:r>
            <a:endParaRPr lang="en-US" sz="90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700" b="1" dirty="0">
                <a:solidFill>
                  <a:srgbClr val="002B7F"/>
                </a:solidFill>
                <a:latin typeface="Arial" pitchFamily="34" charset="0"/>
                <a:ea typeface="Arial" pitchFamily="34" charset="-122"/>
                <a:cs typeface="Arial" pitchFamily="34" charset="-120"/>
              </a:rPr>
              <a:t>TÀI CHÍNH — BẢNG ĐIỀU PHỐI KANBAN HÓA ĐƠN 4 CỘT</a:t>
            </a:r>
            <a:endParaRPr lang="en-US" sz="1700" dirty="0"/>
          </a:p>
        </p:txBody>
      </p:sp>
      <p:sp>
        <p:nvSpPr>
          <p:cNvPr id="4" name="Shape 2"/>
          <p:cNvSpPr/>
          <p:nvPr/>
        </p:nvSpPr>
        <p:spPr>
          <a:xfrm>
            <a:off x="6949440" y="411480"/>
            <a:ext cx="164592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949440" y="411480"/>
            <a:ext cx="16459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KTHC · TECH_ADMIN · ADMIN</a:t>
            </a:r>
            <a:endParaRPr lang="en-US" sz="900" dirty="0"/>
          </a:p>
        </p:txBody>
      </p:sp>
      <p:pic>
        <p:nvPicPr>
          <p:cNvPr id="6" name="Image 0" descr="D:\Claude Code\App So Cong tac\scripts\pptx-assets\mockup-kanban.png">    </p:cNvPr>
          <p:cNvPicPr>
            <a:picLocks noChangeAspect="1"/>
          </p:cNvPicPr>
          <p:nvPr/>
        </p:nvPicPr>
        <p:blipFill>
          <a:blip r:embed="rId1"/>
          <a:stretch>
            <a:fillRect/>
          </a:stretch>
        </p:blipFill>
        <p:spPr>
          <a:xfrm>
            <a:off x="548640" y="1051560"/>
            <a:ext cx="5029200" cy="3017520"/>
          </a:xfrm>
          <a:prstGeom prst="rect">
            <a:avLst/>
          </a:prstGeom>
        </p:spPr>
      </p:pic>
      <p:sp>
        <p:nvSpPr>
          <p:cNvPr id="7" name="Shape 4"/>
          <p:cNvSpPr/>
          <p:nvPr/>
        </p:nvSpPr>
        <p:spPr>
          <a:xfrm>
            <a:off x="5760720" y="1051560"/>
            <a:ext cx="2834640" cy="685800"/>
          </a:xfrm>
          <a:prstGeom prst="roundRect">
            <a:avLst>
              <a:gd name="adj" fmla="val 10667"/>
            </a:avLst>
          </a:prstGeom>
          <a:solidFill>
            <a:srgbClr val="FFFFFF"/>
          </a:solidFill>
          <a:ln w="12700">
            <a:solidFill>
              <a:srgbClr val="E2E8F0"/>
            </a:solidFill>
            <a:prstDash val="solid"/>
          </a:ln>
        </p:spPr>
      </p:sp>
      <p:sp>
        <p:nvSpPr>
          <p:cNvPr id="8" name="Text 5"/>
          <p:cNvSpPr txBox="1"/>
          <p:nvPr/>
        </p:nvSpPr>
        <p:spPr>
          <a:xfrm>
            <a:off x="5897880" y="1106424"/>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CỘT 1: Chờ lên hóa đơn (Office)</a:t>
            </a:r>
            <a:endParaRPr lang="en-US" sz="950" dirty="0"/>
          </a:p>
        </p:txBody>
      </p:sp>
      <p:sp>
        <p:nvSpPr>
          <p:cNvPr id="9" name="Text 6"/>
          <p:cNvSpPr txBox="1"/>
          <p:nvPr/>
        </p:nvSpPr>
        <p:spPr>
          <a:xfrm>
            <a:off x="5897880" y="1307592"/>
            <a:ext cx="2560320" cy="38404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Văn phòng rà soát vật tư, chỉnh tên/giá riêng theo khách, kéo thả sắp xếp thứ tự in và bấm "Bàn giao sang Kế toán".</a:t>
            </a:r>
            <a:endParaRPr lang="en-US" sz="850" dirty="0"/>
          </a:p>
        </p:txBody>
      </p:sp>
      <p:sp>
        <p:nvSpPr>
          <p:cNvPr id="10" name="Shape 7"/>
          <p:cNvSpPr/>
          <p:nvPr/>
        </p:nvSpPr>
        <p:spPr>
          <a:xfrm>
            <a:off x="5760720" y="1874520"/>
            <a:ext cx="2834640" cy="685800"/>
          </a:xfrm>
          <a:prstGeom prst="roundRect">
            <a:avLst>
              <a:gd name="adj" fmla="val 10667"/>
            </a:avLst>
          </a:prstGeom>
          <a:solidFill>
            <a:srgbClr val="FFFFFF"/>
          </a:solidFill>
          <a:ln w="12700">
            <a:solidFill>
              <a:srgbClr val="E2E8F0"/>
            </a:solidFill>
            <a:prstDash val="solid"/>
          </a:ln>
        </p:spPr>
      </p:sp>
      <p:sp>
        <p:nvSpPr>
          <p:cNvPr id="11" name="Text 8"/>
          <p:cNvSpPr txBox="1"/>
          <p:nvPr/>
        </p:nvSpPr>
        <p:spPr>
          <a:xfrm>
            <a:off x="5897880" y="1929384"/>
            <a:ext cx="2560320" cy="201168"/>
          </a:xfrm>
          <a:prstGeom prst="rect">
            <a:avLst/>
          </a:prstGeom>
          <a:noFill/>
          <a:ln/>
        </p:spPr>
        <p:txBody>
          <a:bodyPr wrap="square" lIns="0" tIns="0" rIns="0" bIns="0" rtlCol="0" anchor="ctr"/>
          <a:lstStyle/>
          <a:p>
            <a:pPr indent="0" marL="0">
              <a:buNone/>
            </a:pPr>
            <a:r>
              <a:rPr lang="en-US" sz="950" b="1" dirty="0">
                <a:solidFill>
                  <a:srgbClr val="1D4ED8"/>
                </a:solidFill>
                <a:latin typeface="Arial" pitchFamily="34" charset="0"/>
                <a:ea typeface="Arial" pitchFamily="34" charset="-122"/>
                <a:cs typeface="Arial" pitchFamily="34" charset="-120"/>
              </a:rPr>
              <a:t>CỘT 2: KT-HC lên hóa đơn (Kế toán)</a:t>
            </a:r>
            <a:endParaRPr lang="en-US" sz="950" dirty="0"/>
          </a:p>
        </p:txBody>
      </p:sp>
      <p:sp>
        <p:nvSpPr>
          <p:cNvPr id="12" name="Text 9"/>
          <p:cNvSpPr txBox="1"/>
          <p:nvPr/>
        </p:nvSpPr>
        <p:spPr>
          <a:xfrm>
            <a:off x="5897880" y="2130552"/>
            <a:ext cx="2560320" cy="38404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Phiếu bị khóa sửa vật tư. Kế toán xuất Excel M-invoice. Nếu phát hiện thiếu thông tin, bấm "Trả lại Cột 1 kèm lý do" (Mig 57).</a:t>
            </a:r>
            <a:endParaRPr lang="en-US" sz="850" dirty="0"/>
          </a:p>
        </p:txBody>
      </p:sp>
      <p:sp>
        <p:nvSpPr>
          <p:cNvPr id="13" name="Shape 10"/>
          <p:cNvSpPr/>
          <p:nvPr/>
        </p:nvSpPr>
        <p:spPr>
          <a:xfrm>
            <a:off x="5760720" y="2697480"/>
            <a:ext cx="2834640" cy="685800"/>
          </a:xfrm>
          <a:prstGeom prst="roundRect">
            <a:avLst>
              <a:gd name="adj" fmla="val 10667"/>
            </a:avLst>
          </a:prstGeom>
          <a:solidFill>
            <a:srgbClr val="FFFFFF"/>
          </a:solidFill>
          <a:ln w="12700">
            <a:solidFill>
              <a:srgbClr val="E2E8F0"/>
            </a:solidFill>
            <a:prstDash val="solid"/>
          </a:ln>
        </p:spPr>
      </p:sp>
      <p:sp>
        <p:nvSpPr>
          <p:cNvPr id="14" name="Text 11"/>
          <p:cNvSpPr txBox="1"/>
          <p:nvPr/>
        </p:nvSpPr>
        <p:spPr>
          <a:xfrm>
            <a:off x="5897880" y="2752344"/>
            <a:ext cx="2560320" cy="201168"/>
          </a:xfrm>
          <a:prstGeom prst="rect">
            <a:avLst/>
          </a:prstGeom>
          <a:noFill/>
          <a:ln/>
        </p:spPr>
        <p:txBody>
          <a:bodyPr wrap="square" lIns="0" tIns="0" rIns="0" bIns="0" rtlCol="0" anchor="ctr"/>
          <a:lstStyle/>
          <a:p>
            <a:pPr indent="0" marL="0">
              <a:buNone/>
            </a:pPr>
            <a:r>
              <a:rPr lang="en-US" sz="950" b="1" dirty="0">
                <a:solidFill>
                  <a:srgbClr val="D97706"/>
                </a:solidFill>
                <a:latin typeface="Arial" pitchFamily="34" charset="0"/>
                <a:ea typeface="Arial" pitchFamily="34" charset="-122"/>
                <a:cs typeface="Arial" pitchFamily="34" charset="-120"/>
              </a:rPr>
              <a:t>CỘT 3: Chờ thanh toán (Tuổi nợ)</a:t>
            </a:r>
            <a:endParaRPr lang="en-US" sz="950" dirty="0"/>
          </a:p>
        </p:txBody>
      </p:sp>
      <p:sp>
        <p:nvSpPr>
          <p:cNvPr id="15" name="Text 12"/>
          <p:cNvSpPr txBox="1"/>
          <p:nvPr/>
        </p:nvSpPr>
        <p:spPr>
          <a:xfrm>
            <a:off x="5897880" y="2953512"/>
            <a:ext cx="2560320" cy="38404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Nhập số hóa đơn thật. Thẻ tự động gom nhóm theo số HĐ kèm huy hiệu tuổi nợ (7 - 15 - 30 ngày) và banner cảnh báo.</a:t>
            </a:r>
            <a:endParaRPr lang="en-US" sz="850" dirty="0"/>
          </a:p>
        </p:txBody>
      </p:sp>
      <p:sp>
        <p:nvSpPr>
          <p:cNvPr id="16" name="Shape 13"/>
          <p:cNvSpPr/>
          <p:nvPr/>
        </p:nvSpPr>
        <p:spPr>
          <a:xfrm>
            <a:off x="5760720" y="3520440"/>
            <a:ext cx="2834640" cy="685800"/>
          </a:xfrm>
          <a:prstGeom prst="roundRect">
            <a:avLst>
              <a:gd name="adj" fmla="val 10667"/>
            </a:avLst>
          </a:prstGeom>
          <a:solidFill>
            <a:srgbClr val="FFFFFF"/>
          </a:solidFill>
          <a:ln w="12700">
            <a:solidFill>
              <a:srgbClr val="E2E8F0"/>
            </a:solidFill>
            <a:prstDash val="solid"/>
          </a:ln>
        </p:spPr>
      </p:sp>
      <p:sp>
        <p:nvSpPr>
          <p:cNvPr id="17" name="Text 14"/>
          <p:cNvSpPr txBox="1"/>
          <p:nvPr/>
        </p:nvSpPr>
        <p:spPr>
          <a:xfrm>
            <a:off x="5897880" y="3575304"/>
            <a:ext cx="2560320" cy="201168"/>
          </a:xfrm>
          <a:prstGeom prst="rect">
            <a:avLst/>
          </a:prstGeom>
          <a:noFill/>
          <a:ln/>
        </p:spPr>
        <p:txBody>
          <a:bodyPr wrap="square" lIns="0" tIns="0" rIns="0" bIns="0" rtlCol="0" anchor="ctr"/>
          <a:lstStyle/>
          <a:p>
            <a:pPr indent="0" marL="0">
              <a:buNone/>
            </a:pPr>
            <a:r>
              <a:rPr lang="en-US" sz="950" b="1" dirty="0">
                <a:solidFill>
                  <a:srgbClr val="059669"/>
                </a:solidFill>
                <a:latin typeface="Arial" pitchFamily="34" charset="0"/>
                <a:ea typeface="Arial" pitchFamily="34" charset="-122"/>
                <a:cs typeface="Arial" pitchFamily="34" charset="-120"/>
              </a:rPr>
              <a:t>CỘT 4: Đã thanh toán (Hoàn tất)</a:t>
            </a:r>
            <a:endParaRPr lang="en-US" sz="950" dirty="0"/>
          </a:p>
        </p:txBody>
      </p:sp>
      <p:sp>
        <p:nvSpPr>
          <p:cNvPr id="18" name="Text 15"/>
          <p:cNvSpPr txBox="1"/>
          <p:nvPr/>
        </p:nvSpPr>
        <p:spPr>
          <a:xfrm>
            <a:off x="5897880" y="3776472"/>
            <a:ext cx="2560320" cy="38404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Kế toán ghi nhận tiền thu lũy kế. Khi số tiền thu đủ tổng sau thuế, thẻ tự động chuyển sang Đã thanh toán hoàn tất chu trình.</a:t>
            </a:r>
            <a:endParaRPr lang="en-US" sz="850" dirty="0"/>
          </a:p>
        </p:txBody>
      </p:sp>
      <p:sp>
        <p:nvSpPr>
          <p:cNvPr id="19" name="Shape 16"/>
          <p:cNvSpPr/>
          <p:nvPr/>
        </p:nvSpPr>
        <p:spPr>
          <a:xfrm>
            <a:off x="548640" y="4251960"/>
            <a:ext cx="8046720" cy="457200"/>
          </a:xfrm>
          <a:prstGeom prst="roundRect">
            <a:avLst>
              <a:gd name="adj" fmla="val 16000"/>
            </a:avLst>
          </a:prstGeom>
          <a:solidFill>
            <a:srgbClr val="EFF6FF"/>
          </a:solidFill>
          <a:ln w="12700">
            <a:solidFill>
              <a:srgbClr val="BFDBFE"/>
            </a:solidFill>
            <a:prstDash val="solid"/>
          </a:ln>
        </p:spPr>
      </p:sp>
      <p:sp>
        <p:nvSpPr>
          <p:cNvPr id="20" name="Text 17"/>
          <p:cNvSpPr txBox="1"/>
          <p:nvPr/>
        </p:nvSpPr>
        <p:spPr>
          <a:xfrm>
            <a:off x="731520" y="4343400"/>
            <a:ext cx="7680960" cy="274320"/>
          </a:xfrm>
          <a:prstGeom prst="rect">
            <a:avLst/>
          </a:prstGeom>
          <a:noFill/>
          <a:ln/>
        </p:spPr>
        <p:txBody>
          <a:bodyPr wrap="square" lIns="0" tIns="0" rIns="0" bIns="0" rtlCol="0" anchor="ctr"/>
          <a:lstStyle/>
          <a:p>
            <a:pPr indent="0" marL="0">
              <a:buNone/>
            </a:pPr>
            <a:r>
              <a:rPr lang="en-US" sz="900" b="1" dirty="0">
                <a:solidFill>
                  <a:srgbClr val="0047AB"/>
                </a:solidFill>
                <a:latin typeface="Calibri" pitchFamily="34" charset="0"/>
                <a:ea typeface="Calibri" pitchFamily="34" charset="-122"/>
                <a:cs typeface="Calibri" pitchFamily="34" charset="-120"/>
              </a:rPr>
              <a:t>👥 PHÂN QUYỀN ĐẶC BIỆT: Kế toán (kthc) chỉ nhìn thấy Cột 2, 3, 4. Tech_admin thấy toàn bộ nhưng không được sửa hóa đơn đã chốt số.</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3657600" cy="228600"/>
          </a:xfrm>
          <a:prstGeom prst="rect">
            <a:avLst/>
          </a:prstGeom>
          <a:noFill/>
          <a:ln/>
        </p:spPr>
        <p:txBody>
          <a:bodyPr wrap="square" lIns="0" tIns="0" rIns="0" bIns="0" rtlCol="0" anchor="ctr"/>
          <a:lstStyle/>
          <a:p>
            <a:pPr indent="0" marL="0">
              <a:buNone/>
            </a:pPr>
            <a:r>
              <a:rPr lang="en-US" sz="900" b="1" dirty="0">
                <a:solidFill>
                  <a:srgbClr val="E11D48"/>
                </a:solidFill>
                <a:latin typeface="Arial" pitchFamily="34" charset="0"/>
                <a:ea typeface="Arial" pitchFamily="34" charset="-122"/>
                <a:cs typeface="Arial" pitchFamily="34" charset="-120"/>
              </a:rPr>
              <a:t>TỰ ĐỘNG HÓA KẾ TOÁN</a:t>
            </a:r>
            <a:endParaRPr lang="en-US" sz="90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700" b="1" dirty="0">
                <a:solidFill>
                  <a:srgbClr val="002B7F"/>
                </a:solidFill>
                <a:latin typeface="Arial" pitchFamily="34" charset="0"/>
                <a:ea typeface="Arial" pitchFamily="34" charset="-122"/>
                <a:cs typeface="Arial" pitchFamily="34" charset="-120"/>
              </a:rPr>
              <a:t>TÀI CHÍNH — XUẤT HÓA ĐƠN M-INVOICE &amp; CHỨNG TỪ PHÁP LÝ</a:t>
            </a:r>
            <a:endParaRPr lang="en-US" sz="1700" dirty="0"/>
          </a:p>
        </p:txBody>
      </p:sp>
      <p:sp>
        <p:nvSpPr>
          <p:cNvPr id="4" name="Shape 2"/>
          <p:cNvSpPr/>
          <p:nvPr/>
        </p:nvSpPr>
        <p:spPr>
          <a:xfrm>
            <a:off x="6949440" y="411480"/>
            <a:ext cx="164592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949440" y="411480"/>
            <a:ext cx="16459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KTHC · ADMIN</a:t>
            </a:r>
            <a:endParaRPr lang="en-US" sz="900" dirty="0"/>
          </a:p>
        </p:txBody>
      </p:sp>
      <p:pic>
        <p:nvPicPr>
          <p:cNvPr id="6" name="Image 0" descr="D:\Claude Code\App So Cong tac\scripts\pptx-assets\mockup-minvoice.png">    </p:cNvPr>
          <p:cNvPicPr>
            <a:picLocks noChangeAspect="1"/>
          </p:cNvPicPr>
          <p:nvPr/>
        </p:nvPicPr>
        <p:blipFill>
          <a:blip r:embed="rId1"/>
          <a:stretch>
            <a:fillRect/>
          </a:stretch>
        </p:blipFill>
        <p:spPr>
          <a:xfrm>
            <a:off x="548640" y="1051560"/>
            <a:ext cx="5029200" cy="3017520"/>
          </a:xfrm>
          <a:prstGeom prst="rect">
            <a:avLst/>
          </a:prstGeom>
        </p:spPr>
      </p:pic>
      <p:sp>
        <p:nvSpPr>
          <p:cNvPr id="7" name="Shape 4"/>
          <p:cNvSpPr/>
          <p:nvPr/>
        </p:nvSpPr>
        <p:spPr>
          <a:xfrm>
            <a:off x="5760720" y="1051560"/>
            <a:ext cx="2834640" cy="777240"/>
          </a:xfrm>
          <a:prstGeom prst="roundRect">
            <a:avLst>
              <a:gd name="adj" fmla="val 9412"/>
            </a:avLst>
          </a:prstGeom>
          <a:solidFill>
            <a:srgbClr val="FFFFFF"/>
          </a:solidFill>
          <a:ln w="12700">
            <a:solidFill>
              <a:srgbClr val="E2E8F0"/>
            </a:solidFill>
            <a:prstDash val="solid"/>
          </a:ln>
        </p:spPr>
      </p:sp>
      <p:sp>
        <p:nvSpPr>
          <p:cNvPr id="8" name="Text 5"/>
          <p:cNvSpPr txBox="1"/>
          <p:nvPr/>
        </p:nvSpPr>
        <p:spPr>
          <a:xfrm>
            <a:off x="5897880" y="11247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1. Xuất Excel M-invoice 32 cột mẫu</a:t>
            </a:r>
            <a:endParaRPr lang="en-US" sz="950" dirty="0"/>
          </a:p>
        </p:txBody>
      </p:sp>
      <p:sp>
        <p:nvSpPr>
          <p:cNvPr id="9" name="Text 6"/>
          <p:cNvSpPr txBox="1"/>
          <p:nvPr/>
        </p:nvSpPr>
        <p:spPr>
          <a:xfrm>
            <a:off x="5897880" y="13441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Chỉ 1 click xuất cả lô hóa đơn. Tự động gom nhiều dòng vật tư vào cùng 1 số đơn hàng, chuẩn hóa ĐVT (Cái, Hộp, Bộ, Ram) và mã thuế suất.</a:t>
            </a:r>
            <a:endParaRPr lang="en-US" sz="850" dirty="0"/>
          </a:p>
        </p:txBody>
      </p:sp>
      <p:sp>
        <p:nvSpPr>
          <p:cNvPr id="10" name="Shape 7"/>
          <p:cNvSpPr/>
          <p:nvPr/>
        </p:nvSpPr>
        <p:spPr>
          <a:xfrm>
            <a:off x="5760720" y="1965960"/>
            <a:ext cx="2834640" cy="777240"/>
          </a:xfrm>
          <a:prstGeom prst="roundRect">
            <a:avLst>
              <a:gd name="adj" fmla="val 9412"/>
            </a:avLst>
          </a:prstGeom>
          <a:solidFill>
            <a:srgbClr val="FFFFFF"/>
          </a:solidFill>
          <a:ln w="12700">
            <a:solidFill>
              <a:srgbClr val="E2E8F0"/>
            </a:solidFill>
            <a:prstDash val="solid"/>
          </a:ln>
        </p:spPr>
      </p:sp>
      <p:sp>
        <p:nvSpPr>
          <p:cNvPr id="11" name="Text 8"/>
          <p:cNvSpPr txBox="1"/>
          <p:nvPr/>
        </p:nvSpPr>
        <p:spPr>
          <a:xfrm>
            <a:off x="5897880" y="20391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2. Chống hóa đơn đúp nhiều lớp (Mig 60)</a:t>
            </a:r>
            <a:endParaRPr lang="en-US" sz="950" dirty="0"/>
          </a:p>
        </p:txBody>
      </p:sp>
      <p:sp>
        <p:nvSpPr>
          <p:cNvPr id="12" name="Text 9"/>
          <p:cNvSpPr txBox="1"/>
          <p:nvPr/>
        </p:nvSpPr>
        <p:spPr>
          <a:xfrm>
            <a:off x="5897880" y="22585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Đóng dấu điện tử atomic minvoice_luc, nút xuất hàng loạt chỉ tải các thẻ chưa xuất. Neo chân lý theo số HĐ thật ngăn ngừa hoàn toàn lỗi đúp.</a:t>
            </a:r>
            <a:endParaRPr lang="en-US" sz="850" dirty="0"/>
          </a:p>
        </p:txBody>
      </p:sp>
      <p:sp>
        <p:nvSpPr>
          <p:cNvPr id="13" name="Shape 10"/>
          <p:cNvSpPr/>
          <p:nvPr/>
        </p:nvSpPr>
        <p:spPr>
          <a:xfrm>
            <a:off x="5760720" y="2880360"/>
            <a:ext cx="2834640" cy="777240"/>
          </a:xfrm>
          <a:prstGeom prst="roundRect">
            <a:avLst>
              <a:gd name="adj" fmla="val 9412"/>
            </a:avLst>
          </a:prstGeom>
          <a:solidFill>
            <a:srgbClr val="FFFFFF"/>
          </a:solidFill>
          <a:ln w="12700">
            <a:solidFill>
              <a:srgbClr val="E2E8F0"/>
            </a:solidFill>
            <a:prstDash val="solid"/>
          </a:ln>
        </p:spPr>
      </p:sp>
      <p:sp>
        <p:nvSpPr>
          <p:cNvPr id="14" name="Text 11"/>
          <p:cNvSpPr txBox="1"/>
          <p:nvPr/>
        </p:nvSpPr>
        <p:spPr>
          <a:xfrm>
            <a:off x="5897880" y="29535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3. Xuất Word BBBG &amp; ĐNTT tự động</a:t>
            </a:r>
            <a:endParaRPr lang="en-US" sz="950" dirty="0"/>
          </a:p>
        </p:txBody>
      </p:sp>
      <p:sp>
        <p:nvSpPr>
          <p:cNvPr id="15" name="Text 12"/>
          <p:cNvSpPr txBox="1"/>
          <p:nvPr/>
        </p:nvSpPr>
        <p:spPr>
          <a:xfrm>
            <a:off x="5897880" y="31729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Tự động tạo Biên bản bàn giao và Giấy đề nghị thanh toán với số tăng tự động theo năm ({YY}-{seq}/ĐNTT-ST) sẵn sàng in ký đóng dấu.</a:t>
            </a:r>
            <a:endParaRPr lang="en-US" sz="850" dirty="0"/>
          </a:p>
        </p:txBody>
      </p:sp>
      <p:sp>
        <p:nvSpPr>
          <p:cNvPr id="16" name="Shape 13"/>
          <p:cNvSpPr/>
          <p:nvPr/>
        </p:nvSpPr>
        <p:spPr>
          <a:xfrm>
            <a:off x="5760720" y="3794760"/>
            <a:ext cx="2834640" cy="777240"/>
          </a:xfrm>
          <a:prstGeom prst="roundRect">
            <a:avLst>
              <a:gd name="adj" fmla="val 9412"/>
            </a:avLst>
          </a:prstGeom>
          <a:solidFill>
            <a:srgbClr val="FFFFFF"/>
          </a:solidFill>
          <a:ln w="12700">
            <a:solidFill>
              <a:srgbClr val="E2E8F0"/>
            </a:solidFill>
            <a:prstDash val="solid"/>
          </a:ln>
        </p:spPr>
      </p:sp>
      <p:sp>
        <p:nvSpPr>
          <p:cNvPr id="17" name="Text 14"/>
          <p:cNvSpPr txBox="1"/>
          <p:nvPr/>
        </p:nvSpPr>
        <p:spPr>
          <a:xfrm>
            <a:off x="5897880" y="38679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4. Xuất dữ liệu công nợ thô (Pivot Table)</a:t>
            </a:r>
            <a:endParaRPr lang="en-US" sz="950" dirty="0"/>
          </a:p>
        </p:txBody>
      </p:sp>
      <p:sp>
        <p:nvSpPr>
          <p:cNvPr id="18" name="Text 15"/>
          <p:cNvSpPr txBox="1"/>
          <p:nvPr/>
        </p:nvSpPr>
        <p:spPr>
          <a:xfrm>
            <a:off x="5897880" y="40873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Xuất file Excel công nợ 2 sheet phẳng: Nợ chưa thu (lũy kế số dư) và Đã thanh toán (phát sinh) để kế toán dễ dàng pivot đối soát.</a:t>
            </a:r>
            <a:endParaRPr lang="en-US" sz="850" dirty="0"/>
          </a:p>
        </p:txBody>
      </p:sp>
      <p:sp>
        <p:nvSpPr>
          <p:cNvPr id="19" name="Shape 16"/>
          <p:cNvSpPr/>
          <p:nvPr/>
        </p:nvSpPr>
        <p:spPr>
          <a:xfrm>
            <a:off x="548640" y="4251960"/>
            <a:ext cx="5029200" cy="457200"/>
          </a:xfrm>
          <a:prstGeom prst="roundRect">
            <a:avLst>
              <a:gd name="adj" fmla="val 16000"/>
            </a:avLst>
          </a:prstGeom>
          <a:solidFill>
            <a:srgbClr val="F0FDF4"/>
          </a:solidFill>
          <a:ln w="12700">
            <a:solidFill>
              <a:srgbClr val="BBF7D0"/>
            </a:solidFill>
            <a:prstDash val="solid"/>
          </a:ln>
        </p:spPr>
      </p:sp>
      <p:sp>
        <p:nvSpPr>
          <p:cNvPr id="20" name="Text 17"/>
          <p:cNvSpPr txBox="1"/>
          <p:nvPr/>
        </p:nvSpPr>
        <p:spPr>
          <a:xfrm>
            <a:off x="731520" y="4343400"/>
            <a:ext cx="4663440" cy="274320"/>
          </a:xfrm>
          <a:prstGeom prst="rect">
            <a:avLst/>
          </a:prstGeom>
          <a:noFill/>
          <a:ln/>
        </p:spPr>
        <p:txBody>
          <a:bodyPr wrap="square" lIns="0" tIns="0" rIns="0" bIns="0" rtlCol="0" anchor="ctr"/>
          <a:lstStyle/>
          <a:p>
            <a:pPr indent="0" marL="0">
              <a:buNone/>
            </a:pPr>
            <a:r>
              <a:rPr lang="en-US" sz="850" b="1" dirty="0">
                <a:solidFill>
                  <a:srgbClr val="059669"/>
                </a:solidFill>
                <a:latin typeface="Calibri" pitchFamily="34" charset="0"/>
                <a:ea typeface="Calibri" pitchFamily="34" charset="-122"/>
                <a:cs typeface="Calibri" pitchFamily="34" charset="-120"/>
              </a:rPr>
              <a:t>⚡ TIẾT KIỆM 90% THỜI GIAN: Kế toán không phải gõ tay từng dòng lên phần mềm hóa đơn, loại bỏ hoàn toàn sai lệch số liệu và thuế suất.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3657600" cy="228600"/>
          </a:xfrm>
          <a:prstGeom prst="rect">
            <a:avLst/>
          </a:prstGeom>
          <a:noFill/>
          <a:ln/>
        </p:spPr>
        <p:txBody>
          <a:bodyPr wrap="square" lIns="0" tIns="0" rIns="0" bIns="0" rtlCol="0" anchor="ctr"/>
          <a:lstStyle/>
          <a:p>
            <a:pPr indent="0" marL="0">
              <a:buNone/>
            </a:pPr>
            <a:r>
              <a:rPr lang="en-US" sz="900" b="1" dirty="0">
                <a:solidFill>
                  <a:srgbClr val="E11D48"/>
                </a:solidFill>
                <a:latin typeface="Arial" pitchFamily="34" charset="0"/>
                <a:ea typeface="Arial" pitchFamily="34" charset="-122"/>
                <a:cs typeface="Arial" pitchFamily="34" charset="-120"/>
              </a:rPr>
              <a:t>MÁY THUÊ &amp; BILLING</a:t>
            </a:r>
            <a:endParaRPr lang="en-US" sz="90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700" b="1" dirty="0">
                <a:solidFill>
                  <a:srgbClr val="002B7F"/>
                </a:solidFill>
                <a:latin typeface="Arial" pitchFamily="34" charset="0"/>
                <a:ea typeface="Arial" pitchFamily="34" charset="-122"/>
                <a:cs typeface="Arial" pitchFamily="34" charset="-120"/>
              </a:rPr>
              <a:t>DỊCH VỤ — QUẢN LÝ MÁY THUÊ &amp; THU PHÍ BẢN CHỤP CPC</a:t>
            </a:r>
            <a:endParaRPr lang="en-US" sz="1700" dirty="0"/>
          </a:p>
        </p:txBody>
      </p:sp>
      <p:sp>
        <p:nvSpPr>
          <p:cNvPr id="4" name="Shape 2"/>
          <p:cNvSpPr/>
          <p:nvPr/>
        </p:nvSpPr>
        <p:spPr>
          <a:xfrm>
            <a:off x="6949440" y="411480"/>
            <a:ext cx="164592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949440" y="411480"/>
            <a:ext cx="16459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ADMIN · TECH_ADMIN · KINH_DOANH</a:t>
            </a:r>
            <a:endParaRPr lang="en-US" sz="900" dirty="0"/>
          </a:p>
        </p:txBody>
      </p:sp>
      <p:pic>
        <p:nvPicPr>
          <p:cNvPr id="6" name="Image 0" descr="D:\Claude Code\App So Cong tac\scripts\pptx-assets\mockup-thue-cpc.png">    </p:cNvPr>
          <p:cNvPicPr>
            <a:picLocks noChangeAspect="1"/>
          </p:cNvPicPr>
          <p:nvPr/>
        </p:nvPicPr>
        <p:blipFill>
          <a:blip r:embed="rId1"/>
          <a:stretch>
            <a:fillRect/>
          </a:stretch>
        </p:blipFill>
        <p:spPr>
          <a:xfrm>
            <a:off x="548640" y="1051560"/>
            <a:ext cx="5029200" cy="3017520"/>
          </a:xfrm>
          <a:prstGeom prst="rect">
            <a:avLst/>
          </a:prstGeom>
        </p:spPr>
      </p:pic>
      <p:sp>
        <p:nvSpPr>
          <p:cNvPr id="7" name="Shape 4"/>
          <p:cNvSpPr/>
          <p:nvPr/>
        </p:nvSpPr>
        <p:spPr>
          <a:xfrm>
            <a:off x="5760720" y="1051560"/>
            <a:ext cx="2834640" cy="777240"/>
          </a:xfrm>
          <a:prstGeom prst="roundRect">
            <a:avLst>
              <a:gd name="adj" fmla="val 9412"/>
            </a:avLst>
          </a:prstGeom>
          <a:solidFill>
            <a:srgbClr val="FFFFFF"/>
          </a:solidFill>
          <a:ln w="12700">
            <a:solidFill>
              <a:srgbClr val="E2E8F0"/>
            </a:solidFill>
            <a:prstDash val="solid"/>
          </a:ln>
        </p:spPr>
      </p:sp>
      <p:sp>
        <p:nvSpPr>
          <p:cNvPr id="8" name="Text 5"/>
          <p:cNvSpPr txBox="1"/>
          <p:nvPr/>
        </p:nvSpPr>
        <p:spPr>
          <a:xfrm>
            <a:off x="5897880" y="11247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1. Cấu hình Đơn giá &amp; Định mức máy</a:t>
            </a:r>
            <a:endParaRPr lang="en-US" sz="950" dirty="0"/>
          </a:p>
        </p:txBody>
      </p:sp>
      <p:sp>
        <p:nvSpPr>
          <p:cNvPr id="9" name="Text 6"/>
          <p:cNvSpPr txBox="1"/>
          <p:nvPr/>
        </p:nvSpPr>
        <p:spPr>
          <a:xfrm>
            <a:off x="5897880" y="13441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Hỗ trợ tính phí phức hợp: Đơn giá bản đen/màu, định mức miễn phí, cam kết doanh thu tối thiểu, phân biệt máy màu và máy đen trắng.</a:t>
            </a:r>
            <a:endParaRPr lang="en-US" sz="850" dirty="0"/>
          </a:p>
        </p:txBody>
      </p:sp>
      <p:sp>
        <p:nvSpPr>
          <p:cNvPr id="10" name="Shape 7"/>
          <p:cNvSpPr/>
          <p:nvPr/>
        </p:nvSpPr>
        <p:spPr>
          <a:xfrm>
            <a:off x="5760720" y="1965960"/>
            <a:ext cx="2834640" cy="777240"/>
          </a:xfrm>
          <a:prstGeom prst="roundRect">
            <a:avLst>
              <a:gd name="adj" fmla="val 9412"/>
            </a:avLst>
          </a:prstGeom>
          <a:solidFill>
            <a:srgbClr val="FFFFFF"/>
          </a:solidFill>
          <a:ln w="12700">
            <a:solidFill>
              <a:srgbClr val="E2E8F0"/>
            </a:solidFill>
            <a:prstDash val="solid"/>
          </a:ln>
        </p:spPr>
      </p:sp>
      <p:sp>
        <p:nvSpPr>
          <p:cNvPr id="11" name="Text 8"/>
          <p:cNvSpPr txBox="1"/>
          <p:nvPr/>
        </p:nvSpPr>
        <p:spPr>
          <a:xfrm>
            <a:off x="5897880" y="20391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2. Nhắc nhở chốt Counter định kỳ</a:t>
            </a:r>
            <a:endParaRPr lang="en-US" sz="950" dirty="0"/>
          </a:p>
        </p:txBody>
      </p:sp>
      <p:sp>
        <p:nvSpPr>
          <p:cNvPr id="12" name="Text 9"/>
          <p:cNvSpPr txBox="1"/>
          <p:nvPr/>
        </p:nvSpPr>
        <p:spPr>
          <a:xfrm>
            <a:off x="5897880" y="22585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Cấu hình ngày chốt số riêng từng máy (1-31 hoặc cuối tháng). Banner cảnh báo trực quan: 🟢 Đã lấy, 🟡 Sắp đến ngày, 🔴 Quá hạn chốt.</a:t>
            </a:r>
            <a:endParaRPr lang="en-US" sz="850" dirty="0"/>
          </a:p>
        </p:txBody>
      </p:sp>
      <p:sp>
        <p:nvSpPr>
          <p:cNvPr id="13" name="Shape 10"/>
          <p:cNvSpPr/>
          <p:nvPr/>
        </p:nvSpPr>
        <p:spPr>
          <a:xfrm>
            <a:off x="5760720" y="2880360"/>
            <a:ext cx="2834640" cy="777240"/>
          </a:xfrm>
          <a:prstGeom prst="roundRect">
            <a:avLst>
              <a:gd name="adj" fmla="val 9412"/>
            </a:avLst>
          </a:prstGeom>
          <a:solidFill>
            <a:srgbClr val="FFFFFF"/>
          </a:solidFill>
          <a:ln w="12700">
            <a:solidFill>
              <a:srgbClr val="E2E8F0"/>
            </a:solidFill>
            <a:prstDash val="solid"/>
          </a:ln>
        </p:spPr>
      </p:sp>
      <p:sp>
        <p:nvSpPr>
          <p:cNvPr id="14" name="Text 11"/>
          <p:cNvSpPr txBox="1"/>
          <p:nvPr/>
        </p:nvSpPr>
        <p:spPr>
          <a:xfrm>
            <a:off x="5897880" y="29535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3. Xuất Bảng kê Word chuyên nghiệp</a:t>
            </a:r>
            <a:endParaRPr lang="en-US" sz="950" dirty="0"/>
          </a:p>
        </p:txBody>
      </p:sp>
      <p:sp>
        <p:nvSpPr>
          <p:cNvPr id="15" name="Text 12"/>
          <p:cNvSpPr txBox="1"/>
          <p:nvPr/>
        </p:nvSpPr>
        <p:spPr>
          <a:xfrm>
            <a:off x="5897880" y="31729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Hỗ trợ 2 mẫu Word chuẩn: Bảng kê đơn máy (A4 dọc) và Bảng kê đa máy theo Hợp đồng khung (A3 ngang) sẵn sàng in kèm chân trang.</a:t>
            </a:r>
            <a:endParaRPr lang="en-US" sz="850" dirty="0"/>
          </a:p>
        </p:txBody>
      </p:sp>
      <p:sp>
        <p:nvSpPr>
          <p:cNvPr id="16" name="Shape 13"/>
          <p:cNvSpPr/>
          <p:nvPr/>
        </p:nvSpPr>
        <p:spPr>
          <a:xfrm>
            <a:off x="5760720" y="3794760"/>
            <a:ext cx="2834640" cy="777240"/>
          </a:xfrm>
          <a:prstGeom prst="roundRect">
            <a:avLst>
              <a:gd name="adj" fmla="val 9412"/>
            </a:avLst>
          </a:prstGeom>
          <a:solidFill>
            <a:srgbClr val="FFFFFF"/>
          </a:solidFill>
          <a:ln w="12700">
            <a:solidFill>
              <a:srgbClr val="E2E8F0"/>
            </a:solidFill>
            <a:prstDash val="solid"/>
          </a:ln>
        </p:spPr>
      </p:sp>
      <p:sp>
        <p:nvSpPr>
          <p:cNvPr id="17" name="Text 14"/>
          <p:cNvSpPr txBox="1"/>
          <p:nvPr/>
        </p:nvSpPr>
        <p:spPr>
          <a:xfrm>
            <a:off x="5897880" y="3867912"/>
            <a:ext cx="2560320" cy="201168"/>
          </a:xfrm>
          <a:prstGeom prst="rect">
            <a:avLst/>
          </a:prstGeom>
          <a:noFill/>
          <a:ln/>
        </p:spPr>
        <p:txBody>
          <a:bodyPr wrap="square" lIns="0" tIns="0" rIns="0" bIns="0" rtlCol="0" anchor="ctr"/>
          <a:lstStyle/>
          <a:p>
            <a:pPr indent="0" marL="0">
              <a:buNone/>
            </a:pPr>
            <a:r>
              <a:rPr lang="en-US" sz="950" b="1" dirty="0">
                <a:solidFill>
                  <a:srgbClr val="0047AB"/>
                </a:solidFill>
                <a:latin typeface="Arial" pitchFamily="34" charset="0"/>
                <a:ea typeface="Arial" pitchFamily="34" charset="-122"/>
                <a:cs typeface="Arial" pitchFamily="34" charset="-120"/>
              </a:rPr>
              <a:t>4. Đẩy thẳng sang Kanban &amp; Cổng /kho-thue</a:t>
            </a:r>
            <a:endParaRPr lang="en-US" sz="950" dirty="0"/>
          </a:p>
        </p:txBody>
      </p:sp>
      <p:sp>
        <p:nvSpPr>
          <p:cNvPr id="18" name="Text 15"/>
          <p:cNvSpPr txBox="1"/>
          <p:nvPr/>
        </p:nvSpPr>
        <p:spPr>
          <a:xfrm>
            <a:off x="5897880" y="4087368"/>
            <a:ext cx="256032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1-Click đẩy bảng kê sang Kanban Cột 1 để xuất hóa đơn. Đồng thời cổng /kho-thue cho phép phòng Kinh doanh tra cứu máy sẵn sàng xuất.</a:t>
            </a:r>
            <a:endParaRPr lang="en-US" sz="850" dirty="0"/>
          </a:p>
        </p:txBody>
      </p:sp>
      <p:sp>
        <p:nvSpPr>
          <p:cNvPr id="19" name="Shape 16"/>
          <p:cNvSpPr/>
          <p:nvPr/>
        </p:nvSpPr>
        <p:spPr>
          <a:xfrm>
            <a:off x="548640" y="4251960"/>
            <a:ext cx="5029200" cy="457200"/>
          </a:xfrm>
          <a:prstGeom prst="roundRect">
            <a:avLst>
              <a:gd name="adj" fmla="val 16000"/>
            </a:avLst>
          </a:prstGeom>
          <a:solidFill>
            <a:srgbClr val="FFFBEB"/>
          </a:solidFill>
          <a:ln w="12700">
            <a:solidFill>
              <a:srgbClr val="FDE68A"/>
            </a:solidFill>
            <a:prstDash val="solid"/>
          </a:ln>
        </p:spPr>
      </p:sp>
      <p:sp>
        <p:nvSpPr>
          <p:cNvPr id="20" name="Text 17"/>
          <p:cNvSpPr txBox="1"/>
          <p:nvPr/>
        </p:nvSpPr>
        <p:spPr>
          <a:xfrm>
            <a:off x="731520" y="4343400"/>
            <a:ext cx="4663440" cy="274320"/>
          </a:xfrm>
          <a:prstGeom prst="rect">
            <a:avLst/>
          </a:prstGeom>
          <a:noFill/>
          <a:ln/>
        </p:spPr>
        <p:txBody>
          <a:bodyPr wrap="square" lIns="0" tIns="0" rIns="0" bIns="0" rtlCol="0" anchor="ctr"/>
          <a:lstStyle/>
          <a:p>
            <a:pPr indent="0" marL="0">
              <a:buNone/>
            </a:pPr>
            <a:r>
              <a:rPr lang="en-US" sz="850" b="1" dirty="0">
                <a:solidFill>
                  <a:srgbClr val="D97706"/>
                </a:solidFill>
                <a:latin typeface="Calibri" pitchFamily="34" charset="0"/>
                <a:ea typeface="Calibri" pitchFamily="34" charset="-122"/>
                <a:cs typeface="Calibri" pitchFamily="34" charset="-120"/>
              </a:rPr>
              <a:t>🎯 TIỆN ÍCH NHẬP COUNTER: Nút lưu là icon gọn nhẹ, cho phép xuất bảng kê ngay tại tab Nhập counter đối với máy đơn lẻ cực kỳ nhanh chóng.</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3657600" cy="228600"/>
          </a:xfrm>
          <a:prstGeom prst="rect">
            <a:avLst/>
          </a:prstGeom>
          <a:noFill/>
          <a:ln/>
        </p:spPr>
        <p:txBody>
          <a:bodyPr wrap="square" lIns="0" tIns="0" rIns="0" bIns="0" rtlCol="0" anchor="ctr"/>
          <a:lstStyle/>
          <a:p>
            <a:pPr indent="0" marL="0">
              <a:buNone/>
            </a:pPr>
            <a:r>
              <a:rPr lang="en-US" sz="900" b="1" dirty="0">
                <a:solidFill>
                  <a:srgbClr val="E11D48"/>
                </a:solidFill>
                <a:latin typeface="Arial" pitchFamily="34" charset="0"/>
                <a:ea typeface="Arial" pitchFamily="34" charset="-122"/>
                <a:cs typeface="Arial" pitchFamily="34" charset="-120"/>
              </a:rPr>
              <a:t>HỆ THỐNG &amp; BẢO MẬT</a:t>
            </a:r>
            <a:endParaRPr lang="en-US" sz="900" dirty="0"/>
          </a:p>
        </p:txBody>
      </p:sp>
      <p:sp>
        <p:nvSpPr>
          <p:cNvPr id="3" name="Text 1"/>
          <p:cNvSpPr txBox="1"/>
          <p:nvPr/>
        </p:nvSpPr>
        <p:spPr>
          <a:xfrm>
            <a:off x="548640" y="548640"/>
            <a:ext cx="6217920" cy="411480"/>
          </a:xfrm>
          <a:prstGeom prst="rect">
            <a:avLst/>
          </a:prstGeom>
          <a:noFill/>
          <a:ln/>
        </p:spPr>
        <p:txBody>
          <a:bodyPr wrap="square" lIns="0" tIns="0" rIns="0" bIns="0" rtlCol="0" anchor="ctr"/>
          <a:lstStyle/>
          <a:p>
            <a:pPr indent="0" marL="0">
              <a:buNone/>
            </a:pPr>
            <a:r>
              <a:rPr lang="en-US" sz="1700" b="1" dirty="0">
                <a:solidFill>
                  <a:srgbClr val="002B7F"/>
                </a:solidFill>
                <a:latin typeface="Arial" pitchFamily="34" charset="0"/>
                <a:ea typeface="Arial" pitchFamily="34" charset="-122"/>
                <a:cs typeface="Arial" pitchFamily="34" charset="-120"/>
              </a:rPr>
              <a:t>QUẢN TRỊ — AN NINH, BẢO TRÌ KÍN &amp; QUY TẮC BẮT BUỘC</a:t>
            </a:r>
            <a:endParaRPr lang="en-US" sz="1700" dirty="0"/>
          </a:p>
        </p:txBody>
      </p:sp>
      <p:sp>
        <p:nvSpPr>
          <p:cNvPr id="4" name="Shape 2"/>
          <p:cNvSpPr/>
          <p:nvPr/>
        </p:nvSpPr>
        <p:spPr>
          <a:xfrm>
            <a:off x="6949440" y="411480"/>
            <a:ext cx="1645920" cy="292608"/>
          </a:xfrm>
          <a:prstGeom prst="roundRect">
            <a:avLst>
              <a:gd name="adj" fmla="val 25000"/>
            </a:avLst>
          </a:prstGeom>
          <a:solidFill>
            <a:srgbClr val="0047AB"/>
          </a:solidFill>
          <a:ln w="12700">
            <a:solidFill>
              <a:srgbClr val="0047AB"/>
            </a:solidFill>
            <a:prstDash val="solid"/>
          </a:ln>
        </p:spPr>
      </p:sp>
      <p:sp>
        <p:nvSpPr>
          <p:cNvPr id="5" name="Text 3"/>
          <p:cNvSpPr txBox="1"/>
          <p:nvPr/>
        </p:nvSpPr>
        <p:spPr>
          <a:xfrm>
            <a:off x="6949440" y="411480"/>
            <a:ext cx="16459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 ADMIN</a:t>
            </a:r>
            <a:endParaRPr lang="en-US" sz="900" dirty="0"/>
          </a:p>
        </p:txBody>
      </p:sp>
      <p:sp>
        <p:nvSpPr>
          <p:cNvPr id="6" name="Shape 4"/>
          <p:cNvSpPr/>
          <p:nvPr/>
        </p:nvSpPr>
        <p:spPr>
          <a:xfrm>
            <a:off x="548640" y="1051560"/>
            <a:ext cx="3840480" cy="960120"/>
          </a:xfrm>
          <a:prstGeom prst="roundRect">
            <a:avLst>
              <a:gd name="adj" fmla="val 7619"/>
            </a:avLst>
          </a:prstGeom>
          <a:solidFill>
            <a:srgbClr val="FFFFFF"/>
          </a:solidFill>
          <a:ln w="12700">
            <a:solidFill>
              <a:srgbClr val="E2E8F0"/>
            </a:solidFill>
            <a:prstDash val="solid"/>
          </a:ln>
        </p:spPr>
      </p:sp>
      <p:sp>
        <p:nvSpPr>
          <p:cNvPr id="7" name="Text 5"/>
          <p:cNvSpPr txBox="1"/>
          <p:nvPr/>
        </p:nvSpPr>
        <p:spPr>
          <a:xfrm>
            <a:off x="685800" y="1143000"/>
            <a:ext cx="25603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 Chế độ bảo trì ngụy trang sự cố 503</a:t>
            </a:r>
            <a:endParaRPr lang="en-US" sz="1000" dirty="0"/>
          </a:p>
        </p:txBody>
      </p:sp>
      <p:sp>
        <p:nvSpPr>
          <p:cNvPr id="8" name="Shape 6"/>
          <p:cNvSpPr/>
          <p:nvPr/>
        </p:nvSpPr>
        <p:spPr>
          <a:xfrm>
            <a:off x="3108960" y="1143000"/>
            <a:ext cx="1143000" cy="182880"/>
          </a:xfrm>
          <a:prstGeom prst="roundRect">
            <a:avLst>
              <a:gd name="adj" fmla="val 20000"/>
            </a:avLst>
          </a:prstGeom>
          <a:solidFill>
            <a:srgbClr val="F1F5F9"/>
          </a:solidFill>
          <a:ln w="6350">
            <a:solidFill>
              <a:srgbClr val="CBD5E1"/>
            </a:solidFill>
            <a:prstDash val="solid"/>
          </a:ln>
        </p:spPr>
      </p:sp>
      <p:sp>
        <p:nvSpPr>
          <p:cNvPr id="9" name="Text 7"/>
          <p:cNvSpPr txBox="1"/>
          <p:nvPr/>
        </p:nvSpPr>
        <p:spPr>
          <a:xfrm>
            <a:off x="3108960" y="1143000"/>
            <a:ext cx="114300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BẢO TRÌ AN TOÀN</a:t>
            </a:r>
            <a:endParaRPr lang="en-US" sz="750" dirty="0"/>
          </a:p>
        </p:txBody>
      </p:sp>
      <p:sp>
        <p:nvSpPr>
          <p:cNvPr id="10" name="Text 8"/>
          <p:cNvSpPr txBox="1"/>
          <p:nvPr/>
        </p:nvSpPr>
        <p:spPr>
          <a:xfrm>
            <a:off x="685800" y="1380744"/>
            <a:ext cx="356616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Khi cần bảo trì hệ thống, app cố ý hiển thị lỗi "HTTP 503 Sự cố máy chủ", dừng toàn bộ bot Telegram và khóa đăng nhập. Admin có đường dẫn bí mật ?qt=&lt;khóa&gt; để vào làm việc.</a:t>
            </a:r>
            <a:endParaRPr lang="en-US" sz="850" dirty="0"/>
          </a:p>
        </p:txBody>
      </p:sp>
      <p:sp>
        <p:nvSpPr>
          <p:cNvPr id="11" name="Shape 9"/>
          <p:cNvSpPr/>
          <p:nvPr/>
        </p:nvSpPr>
        <p:spPr>
          <a:xfrm>
            <a:off x="4754880" y="1051560"/>
            <a:ext cx="3840480" cy="960120"/>
          </a:xfrm>
          <a:prstGeom prst="roundRect">
            <a:avLst>
              <a:gd name="adj" fmla="val 7619"/>
            </a:avLst>
          </a:prstGeom>
          <a:solidFill>
            <a:srgbClr val="FFFFFF"/>
          </a:solidFill>
          <a:ln w="12700">
            <a:solidFill>
              <a:srgbClr val="E2E8F0"/>
            </a:solidFill>
            <a:prstDash val="solid"/>
          </a:ln>
        </p:spPr>
      </p:sp>
      <p:sp>
        <p:nvSpPr>
          <p:cNvPr id="12" name="Text 10"/>
          <p:cNvSpPr txBox="1"/>
          <p:nvPr/>
        </p:nvSpPr>
        <p:spPr>
          <a:xfrm>
            <a:off x="4892040" y="1143000"/>
            <a:ext cx="25603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 Đăng nhập sinh trắc học Passkey</a:t>
            </a:r>
            <a:endParaRPr lang="en-US" sz="1000" dirty="0"/>
          </a:p>
        </p:txBody>
      </p:sp>
      <p:sp>
        <p:nvSpPr>
          <p:cNvPr id="13" name="Shape 11"/>
          <p:cNvSpPr/>
          <p:nvPr/>
        </p:nvSpPr>
        <p:spPr>
          <a:xfrm>
            <a:off x="7315200" y="1143000"/>
            <a:ext cx="1143000" cy="182880"/>
          </a:xfrm>
          <a:prstGeom prst="roundRect">
            <a:avLst>
              <a:gd name="adj" fmla="val 20000"/>
            </a:avLst>
          </a:prstGeom>
          <a:solidFill>
            <a:srgbClr val="F1F5F9"/>
          </a:solidFill>
          <a:ln w="6350">
            <a:solidFill>
              <a:srgbClr val="CBD5E1"/>
            </a:solidFill>
            <a:prstDash val="solid"/>
          </a:ln>
        </p:spPr>
      </p:sp>
      <p:sp>
        <p:nvSpPr>
          <p:cNvPr id="14" name="Text 12"/>
          <p:cNvSpPr txBox="1"/>
          <p:nvPr/>
        </p:nvSpPr>
        <p:spPr>
          <a:xfrm>
            <a:off x="7315200" y="1143000"/>
            <a:ext cx="114300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MOBILE PASSKEY</a:t>
            </a:r>
            <a:endParaRPr lang="en-US" sz="750" dirty="0"/>
          </a:p>
        </p:txBody>
      </p:sp>
      <p:sp>
        <p:nvSpPr>
          <p:cNvPr id="15" name="Text 13"/>
          <p:cNvSpPr txBox="1"/>
          <p:nvPr/>
        </p:nvSpPr>
        <p:spPr>
          <a:xfrm>
            <a:off x="4892040" y="1380744"/>
            <a:ext cx="356616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KTV và quản trị viên di động có thể đăng nhập bằng Vân tay / Face ID thông qua WebAuthn chuẩn quốc tế. Cực kỳ nhanh chóng và không sợ lộ mật khẩu.</a:t>
            </a:r>
            <a:endParaRPr lang="en-US" sz="850" dirty="0"/>
          </a:p>
        </p:txBody>
      </p:sp>
      <p:sp>
        <p:nvSpPr>
          <p:cNvPr id="16" name="Shape 14"/>
          <p:cNvSpPr/>
          <p:nvPr/>
        </p:nvSpPr>
        <p:spPr>
          <a:xfrm>
            <a:off x="548640" y="2148840"/>
            <a:ext cx="3840480" cy="960120"/>
          </a:xfrm>
          <a:prstGeom prst="roundRect">
            <a:avLst>
              <a:gd name="adj" fmla="val 7619"/>
            </a:avLst>
          </a:prstGeom>
          <a:solidFill>
            <a:srgbClr val="FFFFFF"/>
          </a:solidFill>
          <a:ln w="12700">
            <a:solidFill>
              <a:srgbClr val="E2E8F0"/>
            </a:solidFill>
            <a:prstDash val="solid"/>
          </a:ln>
        </p:spPr>
      </p:sp>
      <p:sp>
        <p:nvSpPr>
          <p:cNvPr id="17" name="Text 15"/>
          <p:cNvSpPr txBox="1"/>
          <p:nvPr/>
        </p:nvSpPr>
        <p:spPr>
          <a:xfrm>
            <a:off x="685800" y="2240280"/>
            <a:ext cx="25603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 Quy tắc cấm phím tắt Enter / Escape</a:t>
            </a:r>
            <a:endParaRPr lang="en-US" sz="1000" dirty="0"/>
          </a:p>
        </p:txBody>
      </p:sp>
      <p:sp>
        <p:nvSpPr>
          <p:cNvPr id="18" name="Shape 16"/>
          <p:cNvSpPr/>
          <p:nvPr/>
        </p:nvSpPr>
        <p:spPr>
          <a:xfrm>
            <a:off x="3108960" y="2240280"/>
            <a:ext cx="1143000" cy="182880"/>
          </a:xfrm>
          <a:prstGeom prst="roundRect">
            <a:avLst>
              <a:gd name="adj" fmla="val 20000"/>
            </a:avLst>
          </a:prstGeom>
          <a:solidFill>
            <a:srgbClr val="F1F5F9"/>
          </a:solidFill>
          <a:ln w="6350">
            <a:solidFill>
              <a:srgbClr val="CBD5E1"/>
            </a:solidFill>
            <a:prstDash val="solid"/>
          </a:ln>
        </p:spPr>
      </p:sp>
      <p:sp>
        <p:nvSpPr>
          <p:cNvPr id="19" name="Text 17"/>
          <p:cNvSpPr txBox="1"/>
          <p:nvPr/>
        </p:nvSpPr>
        <p:spPr>
          <a:xfrm>
            <a:off x="3108960" y="2240280"/>
            <a:ext cx="114300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CHỐNG THAO TÁC NHẦM</a:t>
            </a:r>
            <a:endParaRPr lang="en-US" sz="750" dirty="0"/>
          </a:p>
        </p:txBody>
      </p:sp>
      <p:sp>
        <p:nvSpPr>
          <p:cNvPr id="20" name="Text 18"/>
          <p:cNvSpPr txBox="1"/>
          <p:nvPr/>
        </p:nvSpPr>
        <p:spPr>
          <a:xfrm>
            <a:off x="685800" y="2478024"/>
            <a:ext cx="356616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Mọi thao tác lưu, xóa, duyệt bắt buộc phải CLICK CHUỘT vào nút. Hệ thống chặn Enter/Esc để ngăn ngừa người dùng bấm nhầm khi app đang tải dữ liệu.</a:t>
            </a:r>
            <a:endParaRPr lang="en-US" sz="850" dirty="0"/>
          </a:p>
        </p:txBody>
      </p:sp>
      <p:sp>
        <p:nvSpPr>
          <p:cNvPr id="21" name="Shape 19"/>
          <p:cNvSpPr/>
          <p:nvPr/>
        </p:nvSpPr>
        <p:spPr>
          <a:xfrm>
            <a:off x="4754880" y="2148840"/>
            <a:ext cx="3840480" cy="960120"/>
          </a:xfrm>
          <a:prstGeom prst="roundRect">
            <a:avLst>
              <a:gd name="adj" fmla="val 7619"/>
            </a:avLst>
          </a:prstGeom>
          <a:solidFill>
            <a:srgbClr val="FFFFFF"/>
          </a:solidFill>
          <a:ln w="12700">
            <a:solidFill>
              <a:srgbClr val="E2E8F0"/>
            </a:solidFill>
            <a:prstDash val="solid"/>
          </a:ln>
        </p:spPr>
      </p:sp>
      <p:sp>
        <p:nvSpPr>
          <p:cNvPr id="22" name="Text 20"/>
          <p:cNvSpPr txBox="1"/>
          <p:nvPr/>
        </p:nvSpPr>
        <p:spPr>
          <a:xfrm>
            <a:off x="4892040" y="2240280"/>
            <a:ext cx="2560320" cy="201168"/>
          </a:xfrm>
          <a:prstGeom prst="rect">
            <a:avLst/>
          </a:prstGeom>
          <a:noFill/>
          <a:ln/>
        </p:spPr>
        <p:txBody>
          <a:bodyPr wrap="square" lIns="0" tIns="0" rIns="0" bIns="0" rtlCol="0" anchor="ctr"/>
          <a:lstStyle/>
          <a:p>
            <a:pPr indent="0" marL="0">
              <a:buNone/>
            </a:pPr>
            <a:r>
              <a:rPr lang="en-US" sz="1000" b="1" dirty="0">
                <a:solidFill>
                  <a:srgbClr val="002B7F"/>
                </a:solidFill>
                <a:latin typeface="Arial" pitchFamily="34" charset="0"/>
                <a:ea typeface="Arial" pitchFamily="34" charset="-122"/>
                <a:cs typeface="Arial" pitchFamily="34" charset="-120"/>
              </a:rPr>
              <a:t>💵 Chuẩn hóa hiển thị Tiền &amp; Ngày tháng</a:t>
            </a:r>
            <a:endParaRPr lang="en-US" sz="1000" dirty="0"/>
          </a:p>
        </p:txBody>
      </p:sp>
      <p:sp>
        <p:nvSpPr>
          <p:cNvPr id="23" name="Shape 21"/>
          <p:cNvSpPr/>
          <p:nvPr/>
        </p:nvSpPr>
        <p:spPr>
          <a:xfrm>
            <a:off x="7315200" y="2240280"/>
            <a:ext cx="1143000" cy="182880"/>
          </a:xfrm>
          <a:prstGeom prst="roundRect">
            <a:avLst>
              <a:gd name="adj" fmla="val 20000"/>
            </a:avLst>
          </a:prstGeom>
          <a:solidFill>
            <a:srgbClr val="F1F5F9"/>
          </a:solidFill>
          <a:ln w="6350">
            <a:solidFill>
              <a:srgbClr val="CBD5E1"/>
            </a:solidFill>
            <a:prstDash val="solid"/>
          </a:ln>
        </p:spPr>
      </p:sp>
      <p:sp>
        <p:nvSpPr>
          <p:cNvPr id="24" name="Text 22"/>
          <p:cNvSpPr txBox="1"/>
          <p:nvPr/>
        </p:nvSpPr>
        <p:spPr>
          <a:xfrm>
            <a:off x="7315200" y="2240280"/>
            <a:ext cx="1143000" cy="182880"/>
          </a:xfrm>
          <a:prstGeom prst="rect">
            <a:avLst/>
          </a:prstGeom>
          <a:noFill/>
          <a:ln/>
        </p:spPr>
        <p:txBody>
          <a:bodyPr wrap="square" lIns="0" tIns="0" rIns="0" bIns="0" rtlCol="0" anchor="ctr"/>
          <a:lstStyle/>
          <a:p>
            <a:pPr algn="ctr" indent="0" marL="0">
              <a:buNone/>
            </a:pPr>
            <a:r>
              <a:rPr lang="en-US" sz="750" b="1" dirty="0">
                <a:solidFill>
                  <a:srgbClr val="475569"/>
                </a:solidFill>
                <a:latin typeface="Calibri" pitchFamily="34" charset="0"/>
                <a:ea typeface="Calibri" pitchFamily="34" charset="-122"/>
                <a:cs typeface="Calibri" pitchFamily="34" charset="-120"/>
              </a:rPr>
              <a:t>QUY TẮC HIỂN THỊ</a:t>
            </a:r>
            <a:endParaRPr lang="en-US" sz="750" dirty="0"/>
          </a:p>
        </p:txBody>
      </p:sp>
      <p:sp>
        <p:nvSpPr>
          <p:cNvPr id="25" name="Text 23"/>
          <p:cNvSpPr txBox="1"/>
          <p:nvPr/>
        </p:nvSpPr>
        <p:spPr>
          <a:xfrm>
            <a:off x="4892040" y="2478024"/>
            <a:ext cx="356616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Mọi số tiền đều phân tách hàng nghìn bằng dấu chấm (2.000.000 đ). Mọi ngày tháng đều bắt buộc định dạng DD/MM/YYYY qua component DateField chuyên biệt.</a:t>
            </a:r>
            <a:endParaRPr lang="en-US" sz="850" dirty="0"/>
          </a:p>
        </p:txBody>
      </p:sp>
      <p:sp>
        <p:nvSpPr>
          <p:cNvPr id="26" name="Shape 24"/>
          <p:cNvSpPr/>
          <p:nvPr/>
        </p:nvSpPr>
        <p:spPr>
          <a:xfrm>
            <a:off x="548640" y="3337560"/>
            <a:ext cx="8046720" cy="1280160"/>
          </a:xfrm>
          <a:prstGeom prst="roundRect">
            <a:avLst>
              <a:gd name="adj" fmla="val 5714"/>
            </a:avLst>
          </a:prstGeom>
          <a:solidFill>
            <a:srgbClr val="F8FAFC"/>
          </a:solidFill>
          <a:ln w="19050">
            <a:solidFill>
              <a:srgbClr val="0047AB"/>
            </a:solidFill>
            <a:prstDash val="solid"/>
          </a:ln>
        </p:spPr>
      </p:sp>
      <p:sp>
        <p:nvSpPr>
          <p:cNvPr id="27" name="Text 25"/>
          <p:cNvSpPr txBox="1"/>
          <p:nvPr/>
        </p:nvSpPr>
        <p:spPr>
          <a:xfrm>
            <a:off x="731520" y="3474720"/>
            <a:ext cx="7680960" cy="228600"/>
          </a:xfrm>
          <a:prstGeom prst="rect">
            <a:avLst/>
          </a:prstGeom>
          <a:noFill/>
          <a:ln/>
        </p:spPr>
        <p:txBody>
          <a:bodyPr wrap="square" lIns="0" tIns="0" rIns="0" bIns="0" rtlCol="0" anchor="ctr"/>
          <a:lstStyle/>
          <a:p>
            <a:pPr indent="0" marL="0">
              <a:buNone/>
            </a:pPr>
            <a:r>
              <a:rPr lang="en-US" sz="1100" b="1" dirty="0">
                <a:solidFill>
                  <a:srgbClr val="0047AB"/>
                </a:solidFill>
                <a:latin typeface="Arial" pitchFamily="34" charset="0"/>
                <a:ea typeface="Arial" pitchFamily="34" charset="-122"/>
                <a:cs typeface="Arial" pitchFamily="34" charset="-120"/>
              </a:rPr>
              <a:t>📋 HỆ THỐNG AUDIT LOG &amp; KIỂM SOÁT PHÂN QUYỀN TAB</a:t>
            </a:r>
            <a:endParaRPr lang="en-US" sz="1100" dirty="0"/>
          </a:p>
        </p:txBody>
      </p:sp>
      <p:sp>
        <p:nvSpPr>
          <p:cNvPr id="28" name="Text 26"/>
          <p:cNvSpPr txBox="1"/>
          <p:nvPr/>
        </p:nvSpPr>
        <p:spPr>
          <a:xfrm>
            <a:off x="731520" y="3767328"/>
            <a:ext cx="7680960" cy="73152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 Audit Logs: Mọi hành động nhạy cảm (tạo phiếu, sửa vật tư, xóa đơn đặt hàng, đổi trạng thái hóa đơn) đều được ghi nhận IP, thiết bị, tài khoản và thời gian chính xác.</a:t>
            </a:r>
            <a:pPr indent="0" marL="0">
              <a:buNone/>
            </a:pPr>
            <a:r>
              <a:rPr lang="en-US" sz="900" dirty="0">
                <a:solidFill>
                  <a:srgbClr val="0F172A"/>
                </a:solidFill>
                <a:latin typeface="Calibri" pitchFamily="34" charset="0"/>
                <a:ea typeface="Calibri" pitchFamily="34" charset="-122"/>
                <a:cs typeface="Calibri" pitchFamily="34" charset="-120"/>
              </a:rPr>
              <a:t>• Phân quyền 3 cấp (Cha - Con - Cháu): Admin có thể bật/tắt quyền xem từng tab con hoặc từng nút chức năng đối với từng tài khoản trong công ty.</a:t>
            </a:r>
            <a:pPr indent="0" marL="0">
              <a:buNone/>
            </a:pPr>
            <a:r>
              <a:rPr lang="en-US" sz="900" dirty="0">
                <a:solidFill>
                  <a:srgbClr val="0F172A"/>
                </a:solidFill>
                <a:latin typeface="Calibri" pitchFamily="34" charset="0"/>
                <a:ea typeface="Calibri" pitchFamily="34" charset="-122"/>
                <a:cs typeface="Calibri" pitchFamily="34" charset="-120"/>
              </a:rPr>
              <a:t>• Tự động cập nhật phiên bản: App tự kiểm tra phiên bản mới từ server và hiển thị thanh nhắc reload nhẹ nhàng mà không làm mất dữ liệu người dùng đang nhập.</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7F"/>
        </a:solidFill>
      </p:bgPr>
    </p:bg>
    <p:spTree>
      <p:nvGrpSpPr>
        <p:cNvPr id="1" name=""/>
        <p:cNvGrpSpPr/>
        <p:nvPr/>
      </p:nvGrpSpPr>
      <p:grpSpPr>
        <a:xfrm>
          <a:off x="0" y="0"/>
          <a:ext cx="0" cy="0"/>
          <a:chOff x="0" y="0"/>
          <a:chExt cx="0" cy="0"/>
        </a:xfrm>
      </p:grpSpPr>
      <p:sp>
        <p:nvSpPr>
          <p:cNvPr id="2" name="Text 0"/>
          <p:cNvSpPr txBox="1"/>
          <p:nvPr/>
        </p:nvSpPr>
        <p:spPr>
          <a:xfrm>
            <a:off x="640080" y="411480"/>
            <a:ext cx="7863840" cy="365760"/>
          </a:xfrm>
          <a:prstGeom prst="rect">
            <a:avLst/>
          </a:prstGeom>
          <a:noFill/>
          <a:ln/>
        </p:spPr>
        <p:txBody>
          <a:bodyPr wrap="square" lIns="0" tIns="0" rIns="0" bIns="0" rtlCol="0" anchor="ctr"/>
          <a:lstStyle/>
          <a:p>
            <a:pPr indent="0" marL="0">
              <a:buNone/>
            </a:pPr>
            <a:r>
              <a:rPr lang="en-US" sz="1600" b="1" dirty="0">
                <a:solidFill>
                  <a:srgbClr val="FF2A54"/>
                </a:solidFill>
                <a:latin typeface="Arial" pitchFamily="34" charset="0"/>
                <a:ea typeface="Arial" pitchFamily="34" charset="-122"/>
                <a:cs typeface="Arial" pitchFamily="34" charset="-120"/>
              </a:rPr>
              <a:t>5 NGUYÊN TẮC VÀNG ĐỂ VẬN HÀNH HỆ THỐNG HAST HIỆU QUẢ</a:t>
            </a:r>
            <a:endParaRPr lang="en-US" sz="1600" dirty="0"/>
          </a:p>
        </p:txBody>
      </p:sp>
      <p:sp>
        <p:nvSpPr>
          <p:cNvPr id="3" name="Shape 1"/>
          <p:cNvSpPr/>
          <p:nvPr/>
        </p:nvSpPr>
        <p:spPr>
          <a:xfrm>
            <a:off x="640080" y="960120"/>
            <a:ext cx="7863840" cy="594360"/>
          </a:xfrm>
          <a:prstGeom prst="roundRect">
            <a:avLst>
              <a:gd name="adj" fmla="val 12308"/>
            </a:avLst>
          </a:prstGeom>
          <a:solidFill>
            <a:srgbClr val="0A2558"/>
          </a:solidFill>
          <a:ln w="12700">
            <a:solidFill>
              <a:srgbClr val="1E40AF"/>
            </a:solidFill>
            <a:prstDash val="solid"/>
          </a:ln>
        </p:spPr>
      </p:sp>
      <p:sp>
        <p:nvSpPr>
          <p:cNvPr id="4" name="Text 2"/>
          <p:cNvSpPr txBox="1"/>
          <p:nvPr/>
        </p:nvSpPr>
        <p:spPr>
          <a:xfrm>
            <a:off x="822960" y="1014984"/>
            <a:ext cx="7498080" cy="182880"/>
          </a:xfrm>
          <a:prstGeom prst="rect">
            <a:avLst/>
          </a:prstGeom>
          <a:noFill/>
          <a:ln/>
        </p:spPr>
        <p:txBody>
          <a:bodyPr wrap="square" lIns="0" tIns="0" rIns="0" bIns="0" rtlCol="0" anchor="ctr"/>
          <a:lstStyle/>
          <a:p>
            <a:pPr indent="0" marL="0">
              <a:buNone/>
            </a:pPr>
            <a:r>
              <a:rPr lang="en-US" sz="950" b="1" dirty="0">
                <a:solidFill>
                  <a:srgbClr val="FF2A54"/>
                </a:solidFill>
                <a:latin typeface="Arial" pitchFamily="34" charset="0"/>
                <a:ea typeface="Arial" pitchFamily="34" charset="-122"/>
                <a:cs typeface="Arial" pitchFamily="34" charset="-120"/>
              </a:rPr>
              <a:t>KỸ THUẬT HIỆN TRƯỜNG (KTV)</a:t>
            </a:r>
            <a:endParaRPr lang="en-US" sz="950" dirty="0"/>
          </a:p>
        </p:txBody>
      </p:sp>
      <p:sp>
        <p:nvSpPr>
          <p:cNvPr id="5" name="Text 3"/>
          <p:cNvSpPr txBox="1"/>
          <p:nvPr/>
        </p:nvSpPr>
        <p:spPr>
          <a:xfrm>
            <a:off x="822960" y="1197864"/>
            <a:ext cx="7498080" cy="32004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Bấm "Đang làm" ngay khi chạm máy, bấm "Hoàn thành" trước khi rời khỏi khách hàng để hệ thống tính đúng lead-time và tự động trừ kho.</a:t>
            </a:r>
            <a:endParaRPr lang="en-US" sz="850" dirty="0"/>
          </a:p>
        </p:txBody>
      </p:sp>
      <p:sp>
        <p:nvSpPr>
          <p:cNvPr id="6" name="Shape 4"/>
          <p:cNvSpPr/>
          <p:nvPr/>
        </p:nvSpPr>
        <p:spPr>
          <a:xfrm>
            <a:off x="640080" y="1645920"/>
            <a:ext cx="7863840" cy="594360"/>
          </a:xfrm>
          <a:prstGeom prst="roundRect">
            <a:avLst>
              <a:gd name="adj" fmla="val 12308"/>
            </a:avLst>
          </a:prstGeom>
          <a:solidFill>
            <a:srgbClr val="0A2558"/>
          </a:solidFill>
          <a:ln w="12700">
            <a:solidFill>
              <a:srgbClr val="1E40AF"/>
            </a:solidFill>
            <a:prstDash val="solid"/>
          </a:ln>
        </p:spPr>
      </p:sp>
      <p:sp>
        <p:nvSpPr>
          <p:cNvPr id="7" name="Text 5"/>
          <p:cNvSpPr txBox="1"/>
          <p:nvPr/>
        </p:nvSpPr>
        <p:spPr>
          <a:xfrm>
            <a:off x="822960" y="1700784"/>
            <a:ext cx="7498080" cy="182880"/>
          </a:xfrm>
          <a:prstGeom prst="rect">
            <a:avLst/>
          </a:prstGeom>
          <a:noFill/>
          <a:ln/>
        </p:spPr>
        <p:txBody>
          <a:bodyPr wrap="square" lIns="0" tIns="0" rIns="0" bIns="0" rtlCol="0" anchor="ctr"/>
          <a:lstStyle/>
          <a:p>
            <a:pPr indent="0" marL="0">
              <a:buNone/>
            </a:pPr>
            <a:r>
              <a:rPr lang="en-US" sz="950" b="1" dirty="0">
                <a:solidFill>
                  <a:srgbClr val="38BDF8"/>
                </a:solidFill>
                <a:latin typeface="Arial" pitchFamily="34" charset="0"/>
                <a:ea typeface="Arial" pitchFamily="34" charset="-122"/>
                <a:cs typeface="Arial" pitchFamily="34" charset="-120"/>
              </a:rPr>
              <a:t>VĂN PHÒNG ĐIỀU PHỐI (TECH_ADMIN / STAFF)</a:t>
            </a:r>
            <a:endParaRPr lang="en-US" sz="950" dirty="0"/>
          </a:p>
        </p:txBody>
      </p:sp>
      <p:sp>
        <p:nvSpPr>
          <p:cNvPr id="8" name="Text 6"/>
          <p:cNvSpPr txBox="1"/>
          <p:nvPr/>
        </p:nvSpPr>
        <p:spPr>
          <a:xfrm>
            <a:off x="822960" y="1883664"/>
            <a:ext cx="7498080" cy="32004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Rà soát kỹ model máy, khách hàng và đơn giá vật tư trước khi bấm "Bàn giao sang Kế toán". Tránh để kế toán phải trả lại phiếu.</a:t>
            </a:r>
            <a:endParaRPr lang="en-US" sz="850" dirty="0"/>
          </a:p>
        </p:txBody>
      </p:sp>
      <p:sp>
        <p:nvSpPr>
          <p:cNvPr id="9" name="Shape 7"/>
          <p:cNvSpPr/>
          <p:nvPr/>
        </p:nvSpPr>
        <p:spPr>
          <a:xfrm>
            <a:off x="640080" y="2331720"/>
            <a:ext cx="7863840" cy="594360"/>
          </a:xfrm>
          <a:prstGeom prst="roundRect">
            <a:avLst>
              <a:gd name="adj" fmla="val 12308"/>
            </a:avLst>
          </a:prstGeom>
          <a:solidFill>
            <a:srgbClr val="0A2558"/>
          </a:solidFill>
          <a:ln w="12700">
            <a:solidFill>
              <a:srgbClr val="1E40AF"/>
            </a:solidFill>
            <a:prstDash val="solid"/>
          </a:ln>
        </p:spPr>
      </p:sp>
      <p:sp>
        <p:nvSpPr>
          <p:cNvPr id="10" name="Text 8"/>
          <p:cNvSpPr txBox="1"/>
          <p:nvPr/>
        </p:nvSpPr>
        <p:spPr>
          <a:xfrm>
            <a:off x="822960" y="2386584"/>
            <a:ext cx="7498080" cy="182880"/>
          </a:xfrm>
          <a:prstGeom prst="rect">
            <a:avLst/>
          </a:prstGeom>
          <a:noFill/>
          <a:ln/>
        </p:spPr>
        <p:txBody>
          <a:bodyPr wrap="square" lIns="0" tIns="0" rIns="0" bIns="0" rtlCol="0" anchor="ctr"/>
          <a:lstStyle/>
          <a:p>
            <a:pPr indent="0" marL="0">
              <a:buNone/>
            </a:pPr>
            <a:r>
              <a:rPr lang="en-US" sz="950" b="1" dirty="0">
                <a:solidFill>
                  <a:srgbClr val="FBBF24"/>
                </a:solidFill>
                <a:latin typeface="Arial" pitchFamily="34" charset="0"/>
                <a:ea typeface="Arial" pitchFamily="34" charset="-122"/>
                <a:cs typeface="Arial" pitchFamily="34" charset="-120"/>
              </a:rPr>
              <a:t>QUẢN LÝ KHO (ADMIN)</a:t>
            </a:r>
            <a:endParaRPr lang="en-US" sz="950" dirty="0"/>
          </a:p>
        </p:txBody>
      </p:sp>
      <p:sp>
        <p:nvSpPr>
          <p:cNvPr id="11" name="Text 9"/>
          <p:cNvSpPr txBox="1"/>
          <p:nvPr/>
        </p:nvSpPr>
        <p:spPr>
          <a:xfrm>
            <a:off x="822960" y="2569464"/>
            <a:ext cx="7498080" cy="32004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Theo dõi chuông cảnh báo tồn kho hàng ngày. Tạo PO nháp kịp thời và chỉ Admin mới được ghi nhận hàng về để bảo vệ tính toàn vẹn của kho.</a:t>
            </a:r>
            <a:endParaRPr lang="en-US" sz="850" dirty="0"/>
          </a:p>
        </p:txBody>
      </p:sp>
      <p:sp>
        <p:nvSpPr>
          <p:cNvPr id="12" name="Shape 10"/>
          <p:cNvSpPr/>
          <p:nvPr/>
        </p:nvSpPr>
        <p:spPr>
          <a:xfrm>
            <a:off x="640080" y="3017520"/>
            <a:ext cx="7863840" cy="594360"/>
          </a:xfrm>
          <a:prstGeom prst="roundRect">
            <a:avLst>
              <a:gd name="adj" fmla="val 12308"/>
            </a:avLst>
          </a:prstGeom>
          <a:solidFill>
            <a:srgbClr val="0A2558"/>
          </a:solidFill>
          <a:ln w="12700">
            <a:solidFill>
              <a:srgbClr val="1E40AF"/>
            </a:solidFill>
            <a:prstDash val="solid"/>
          </a:ln>
        </p:spPr>
      </p:sp>
      <p:sp>
        <p:nvSpPr>
          <p:cNvPr id="13" name="Text 11"/>
          <p:cNvSpPr txBox="1"/>
          <p:nvPr/>
        </p:nvSpPr>
        <p:spPr>
          <a:xfrm>
            <a:off x="822960" y="3072384"/>
            <a:ext cx="7498080" cy="182880"/>
          </a:xfrm>
          <a:prstGeom prst="rect">
            <a:avLst/>
          </a:prstGeom>
          <a:noFill/>
          <a:ln/>
        </p:spPr>
        <p:txBody>
          <a:bodyPr wrap="square" lIns="0" tIns="0" rIns="0" bIns="0" rtlCol="0" anchor="ctr"/>
          <a:lstStyle/>
          <a:p>
            <a:pPr indent="0" marL="0">
              <a:buNone/>
            </a:pPr>
            <a:r>
              <a:rPr lang="en-US" sz="950" b="1" dirty="0">
                <a:solidFill>
                  <a:srgbClr val="34D399"/>
                </a:solidFill>
                <a:latin typeface="Arial" pitchFamily="34" charset="0"/>
                <a:ea typeface="Arial" pitchFamily="34" charset="-122"/>
                <a:cs typeface="Arial" pitchFamily="34" charset="-120"/>
              </a:rPr>
              <a:t>KẾ TOÁN HÀNH CHÍNH (KTHC)</a:t>
            </a:r>
            <a:endParaRPr lang="en-US" sz="950" dirty="0"/>
          </a:p>
        </p:txBody>
      </p:sp>
      <p:sp>
        <p:nvSpPr>
          <p:cNvPr id="14" name="Text 12"/>
          <p:cNvSpPr txBox="1"/>
          <p:nvPr/>
        </p:nvSpPr>
        <p:spPr>
          <a:xfrm>
            <a:off x="822960" y="3255264"/>
            <a:ext cx="7498080" cy="32004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Xuất file M-invoice 32 cột định kỳ, nhập số hóa đơn ngay khi xuất xong và theo dõi sát sao thẻ nợ quá hạn 7 - 15 - 30 ngày trên Kanban.</a:t>
            </a:r>
            <a:endParaRPr lang="en-US" sz="850" dirty="0"/>
          </a:p>
        </p:txBody>
      </p:sp>
      <p:sp>
        <p:nvSpPr>
          <p:cNvPr id="15" name="Shape 13"/>
          <p:cNvSpPr/>
          <p:nvPr/>
        </p:nvSpPr>
        <p:spPr>
          <a:xfrm>
            <a:off x="640080" y="3703320"/>
            <a:ext cx="7863840" cy="594360"/>
          </a:xfrm>
          <a:prstGeom prst="roundRect">
            <a:avLst>
              <a:gd name="adj" fmla="val 12308"/>
            </a:avLst>
          </a:prstGeom>
          <a:solidFill>
            <a:srgbClr val="0A2558"/>
          </a:solidFill>
          <a:ln w="12700">
            <a:solidFill>
              <a:srgbClr val="1E40AF"/>
            </a:solidFill>
            <a:prstDash val="solid"/>
          </a:ln>
        </p:spPr>
      </p:sp>
      <p:sp>
        <p:nvSpPr>
          <p:cNvPr id="16" name="Text 14"/>
          <p:cNvSpPr txBox="1"/>
          <p:nvPr/>
        </p:nvSpPr>
        <p:spPr>
          <a:xfrm>
            <a:off x="822960" y="3758184"/>
            <a:ext cx="7498080" cy="182880"/>
          </a:xfrm>
          <a:prstGeom prst="rect">
            <a:avLst/>
          </a:prstGeom>
          <a:noFill/>
          <a:ln/>
        </p:spPr>
        <p:txBody>
          <a:bodyPr wrap="square" lIns="0" tIns="0" rIns="0" bIns="0" rtlCol="0" anchor="ctr"/>
          <a:lstStyle/>
          <a:p>
            <a:pPr indent="0" marL="0">
              <a:buNone/>
            </a:pPr>
            <a:r>
              <a:rPr lang="en-US" sz="950" b="1" dirty="0">
                <a:solidFill>
                  <a:srgbClr val="C084FC"/>
                </a:solidFill>
                <a:latin typeface="Arial" pitchFamily="34" charset="0"/>
                <a:ea typeface="Arial" pitchFamily="34" charset="-122"/>
                <a:cs typeface="Arial" pitchFamily="34" charset="-120"/>
              </a:rPr>
              <a:t>KINH DOANH &amp; LÃNH ĐẠO (SALES / ADMIN)</a:t>
            </a:r>
            <a:endParaRPr lang="en-US" sz="950" dirty="0"/>
          </a:p>
        </p:txBody>
      </p:sp>
      <p:sp>
        <p:nvSpPr>
          <p:cNvPr id="17" name="Text 15"/>
          <p:cNvSpPr txBox="1"/>
          <p:nvPr/>
        </p:nvSpPr>
        <p:spPr>
          <a:xfrm>
            <a:off x="822960" y="3941064"/>
            <a:ext cx="7498080" cy="32004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Khai thác cổng /kho-thue để tư vấn máy thuê sẵn sàng; sử dụng file xuất công nợ thô để pivot phân tích dòng tiền và ra quyết định.</a:t>
            </a:r>
            <a:endParaRPr lang="en-US" sz="850" dirty="0"/>
          </a:p>
        </p:txBody>
      </p:sp>
      <p:sp>
        <p:nvSpPr>
          <p:cNvPr id="18" name="Text 16"/>
          <p:cNvSpPr txBox="1"/>
          <p:nvPr/>
        </p:nvSpPr>
        <p:spPr>
          <a:xfrm>
            <a:off x="640080" y="4526280"/>
            <a:ext cx="7863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HỆ THỐNG VẬN HÀNH HAST — ĐOÀN KẾT, CHÍNH XÁC VÀ HIỆU QUẢ TỪNG GIÂY PHÚT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HAST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HAST — Cẩm Nang Hướng Dẫn Sử Dụng &amp; Quy Trình Vận Hành</dc:title>
  <dc:subject>Sổ Công Tác, Kho Hàng, Bảo Trì &amp; Kế Toán Kanban</dc:subject>
  <dc:creator>HAST Tech Team</dc:creator>
  <cp:lastModifiedBy>HAST Tech Team</cp:lastModifiedBy>
  <cp:revision>1</cp:revision>
  <dcterms:created xsi:type="dcterms:W3CDTF">2026-09-13T01:38:34Z</dcterms:created>
  <dcterms:modified xsi:type="dcterms:W3CDTF">2026-09-13T01:38:34Z</dcterms:modified>
</cp:coreProperties>
</file>