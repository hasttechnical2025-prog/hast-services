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7F"/>
        </a:solidFill>
      </p:bgPr>
    </p:bg>
    <p:spTree>
      <p:nvGrpSpPr>
        <p:cNvPr id="1" name=""/>
        <p:cNvGrpSpPr/>
        <p:nvPr/>
      </p:nvGrpSpPr>
      <p:grpSpPr>
        <a:xfrm>
          <a:off x="0" y="0"/>
          <a:ext cx="0" cy="0"/>
          <a:chOff x="0" y="0"/>
          <a:chExt cx="0" cy="0"/>
        </a:xfrm>
      </p:grpSpPr>
      <p:pic>
        <p:nvPicPr>
          <p:cNvPr id="2" name="Image 0" descr="D:\Claude Code\App So Cong tac\public\sotheodoi\logo-slogan.png">    </p:cNvPr>
          <p:cNvPicPr>
            <a:picLocks noChangeAspect="1"/>
          </p:cNvPicPr>
          <p:nvPr/>
        </p:nvPicPr>
        <p:blipFill>
          <a:blip r:embed="rId1"/>
          <a:stretch>
            <a:fillRect/>
          </a:stretch>
        </p:blipFill>
        <p:spPr>
          <a:xfrm>
            <a:off x="640080" y="457200"/>
            <a:ext cx="2011680" cy="804672"/>
          </a:xfrm>
          <a:prstGeom prst="rect">
            <a:avLst/>
          </a:prstGeom>
        </p:spPr>
      </p:pic>
      <p:sp>
        <p:nvSpPr>
          <p:cNvPr id="3" name="Text 0"/>
          <p:cNvSpPr txBox="1"/>
          <p:nvPr/>
        </p:nvSpPr>
        <p:spPr>
          <a:xfrm>
            <a:off x="640080" y="1417320"/>
            <a:ext cx="7863840" cy="320040"/>
          </a:xfrm>
          <a:prstGeom prst="rect">
            <a:avLst/>
          </a:prstGeom>
          <a:noFill/>
          <a:ln/>
        </p:spPr>
        <p:txBody>
          <a:bodyPr wrap="square" lIns="0" tIns="0" rIns="0" bIns="0" rtlCol="0" anchor="ctr"/>
          <a:lstStyle/>
          <a:p>
            <a:pPr indent="0" marL="0">
              <a:buNone/>
            </a:pPr>
            <a:r>
              <a:rPr lang="en-US" sz="1200" b="1" spc="150" kern="0" dirty="0">
                <a:solidFill>
                  <a:srgbClr val="FF2A54"/>
                </a:solidFill>
                <a:latin typeface="Arial" pitchFamily="34" charset="0"/>
                <a:ea typeface="Arial" pitchFamily="34" charset="-122"/>
                <a:cs typeface="Arial" pitchFamily="34" charset="-120"/>
              </a:rPr>
              <a:t>HỆ THỐNG VẬN HÀNH NỘI BỘ HAST · PHIÊN BẢN THỰC CHIẾN</a:t>
            </a:r>
            <a:endParaRPr lang="en-US" sz="1200" dirty="0"/>
          </a:p>
        </p:txBody>
      </p:sp>
      <p:sp>
        <p:nvSpPr>
          <p:cNvPr id="4" name="Text 1"/>
          <p:cNvSpPr txBox="1"/>
          <p:nvPr/>
        </p:nvSpPr>
        <p:spPr>
          <a:xfrm>
            <a:off x="640080" y="1783080"/>
            <a:ext cx="7863840" cy="6858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CẨM NANG BỎ TÚI HƯỚNG DẪN TÁC NGHIỆP</a:t>
            </a:r>
            <a:endParaRPr lang="en-US" sz="2600" dirty="0"/>
          </a:p>
        </p:txBody>
      </p:sp>
      <p:sp>
        <p:nvSpPr>
          <p:cNvPr id="5" name="Text 2"/>
          <p:cNvSpPr txBox="1"/>
          <p:nvPr/>
        </p:nvSpPr>
        <p:spPr>
          <a:xfrm>
            <a:off x="640080" y="2514600"/>
            <a:ext cx="7863840" cy="411480"/>
          </a:xfrm>
          <a:prstGeom prst="rect">
            <a:avLst/>
          </a:prstGeom>
          <a:noFill/>
          <a:ln/>
        </p:spPr>
        <p:txBody>
          <a:bodyPr wrap="square" lIns="0" tIns="0" rIns="0" bIns="0" rtlCol="0" anchor="ctr"/>
          <a:lstStyle/>
          <a:p>
            <a:pPr indent="0" marL="0">
              <a:buNone/>
            </a:pPr>
            <a:r>
              <a:rPr lang="en-US" sz="1150" dirty="0">
                <a:solidFill>
                  <a:srgbClr val="93C5FD"/>
                </a:solidFill>
                <a:latin typeface="Calibri" pitchFamily="34" charset="0"/>
                <a:ea typeface="Calibri" pitchFamily="34" charset="-122"/>
                <a:cs typeface="Calibri" pitchFamily="34" charset="-120"/>
              </a:rPr>
              <a:t>QUY TRÌNH THAO TÁC CƠ BẢN &amp; LƯU Ý SỐNG CÒN DÀNH CHO CBNV KỸ THUẬT, KẾ TOÁN &amp; KINH DOANH</a:t>
            </a:r>
            <a:endParaRPr lang="en-US" sz="1150" dirty="0"/>
          </a:p>
        </p:txBody>
      </p:sp>
      <p:sp>
        <p:nvSpPr>
          <p:cNvPr id="6" name="Shape 3"/>
          <p:cNvSpPr/>
          <p:nvPr/>
        </p:nvSpPr>
        <p:spPr>
          <a:xfrm>
            <a:off x="640080" y="3154680"/>
            <a:ext cx="3840480" cy="621792"/>
          </a:xfrm>
          <a:prstGeom prst="roundRect">
            <a:avLst>
              <a:gd name="adj" fmla="val 11765"/>
            </a:avLst>
          </a:prstGeom>
          <a:solidFill>
            <a:srgbClr val="0A2558"/>
          </a:solidFill>
          <a:ln w="12700">
            <a:solidFill>
              <a:srgbClr val="1E40AF"/>
            </a:solidFill>
            <a:prstDash val="solid"/>
          </a:ln>
        </p:spPr>
      </p:sp>
      <p:sp>
        <p:nvSpPr>
          <p:cNvPr id="7" name="Text 4"/>
          <p:cNvSpPr txBox="1"/>
          <p:nvPr/>
        </p:nvSpPr>
        <p:spPr>
          <a:xfrm>
            <a:off x="777240" y="3227832"/>
            <a:ext cx="3566160" cy="201168"/>
          </a:xfrm>
          <a:prstGeom prst="rect">
            <a:avLst/>
          </a:prstGeom>
          <a:noFill/>
          <a:ln/>
        </p:spPr>
        <p:txBody>
          <a:bodyPr wrap="square" lIns="0" tIns="0" rIns="0" bIns="0" rtlCol="0" anchor="ctr"/>
          <a:lstStyle/>
          <a:p>
            <a:pPr indent="0" marL="0">
              <a:buNone/>
            </a:pPr>
            <a:r>
              <a:rPr lang="en-US" sz="950" b="1" dirty="0">
                <a:solidFill>
                  <a:srgbClr val="FF2A54"/>
                </a:solidFill>
                <a:latin typeface="Arial" pitchFamily="34" charset="0"/>
                <a:ea typeface="Arial" pitchFamily="34" charset="-122"/>
                <a:cs typeface="Arial" pitchFamily="34" charset="-120"/>
              </a:rPr>
              <a:t>LEAFLET 01: KTV HIỆN TRƯỜNG  [👉 /ktv Mobile]</a:t>
            </a:r>
            <a:endParaRPr lang="en-US" sz="950" dirty="0"/>
          </a:p>
        </p:txBody>
      </p:sp>
      <p:sp>
        <p:nvSpPr>
          <p:cNvPr id="8" name="Text 5"/>
          <p:cNvSpPr txBox="1"/>
          <p:nvPr/>
        </p:nvSpPr>
        <p:spPr>
          <a:xfrm>
            <a:off x="777240" y="3429000"/>
            <a:ext cx="3566160" cy="292608"/>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5 Bước thao tác, xử lý hầm mất sóng 4G &amp; 3 điều cấm</a:t>
            </a:r>
            <a:endParaRPr lang="en-US" sz="850" dirty="0"/>
          </a:p>
        </p:txBody>
      </p:sp>
      <p:sp>
        <p:nvSpPr>
          <p:cNvPr id="9" name="Shape 6"/>
          <p:cNvSpPr/>
          <p:nvPr/>
        </p:nvSpPr>
        <p:spPr>
          <a:xfrm>
            <a:off x="4663440" y="3154680"/>
            <a:ext cx="3840480" cy="621792"/>
          </a:xfrm>
          <a:prstGeom prst="roundRect">
            <a:avLst>
              <a:gd name="adj" fmla="val 11765"/>
            </a:avLst>
          </a:prstGeom>
          <a:solidFill>
            <a:srgbClr val="0A2558"/>
          </a:solidFill>
          <a:ln w="12700">
            <a:solidFill>
              <a:srgbClr val="1E40AF"/>
            </a:solidFill>
            <a:prstDash val="solid"/>
          </a:ln>
        </p:spPr>
      </p:sp>
      <p:sp>
        <p:nvSpPr>
          <p:cNvPr id="10" name="Text 7"/>
          <p:cNvSpPr txBox="1"/>
          <p:nvPr/>
        </p:nvSpPr>
        <p:spPr>
          <a:xfrm>
            <a:off x="4800600" y="3227832"/>
            <a:ext cx="3566160" cy="201168"/>
          </a:xfrm>
          <a:prstGeom prst="rect">
            <a:avLst/>
          </a:prstGeom>
          <a:noFill/>
          <a:ln/>
        </p:spPr>
        <p:txBody>
          <a:bodyPr wrap="square" lIns="0" tIns="0" rIns="0" bIns="0" rtlCol="0" anchor="ctr"/>
          <a:lstStyle/>
          <a:p>
            <a:pPr indent="0" marL="0">
              <a:buNone/>
            </a:pPr>
            <a:r>
              <a:rPr lang="en-US" sz="950" b="1" dirty="0">
                <a:solidFill>
                  <a:srgbClr val="FF2A54"/>
                </a:solidFill>
                <a:latin typeface="Arial" pitchFamily="34" charset="0"/>
                <a:ea typeface="Arial" pitchFamily="34" charset="-122"/>
                <a:cs typeface="Arial" pitchFamily="34" charset="-120"/>
              </a:rPr>
              <a:t>LEAFLET 02: VĂN PHÒNG ĐIỀU PHỐI  [👉 /admin (Sổ CT &amp; Kho)]</a:t>
            </a:r>
            <a:endParaRPr lang="en-US" sz="950" dirty="0"/>
          </a:p>
        </p:txBody>
      </p:sp>
      <p:sp>
        <p:nvSpPr>
          <p:cNvPr id="11" name="Text 8"/>
          <p:cNvSpPr txBox="1"/>
          <p:nvPr/>
        </p:nvSpPr>
        <p:spPr>
          <a:xfrm>
            <a:off x="4800600" y="3429000"/>
            <a:ext cx="3566160" cy="292608"/>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Bắt buộc mã máy, gợi ý giám định, Telegram &amp; PO nháp</a:t>
            </a:r>
            <a:endParaRPr lang="en-US" sz="850" dirty="0"/>
          </a:p>
        </p:txBody>
      </p:sp>
      <p:sp>
        <p:nvSpPr>
          <p:cNvPr id="12" name="Shape 9"/>
          <p:cNvSpPr/>
          <p:nvPr/>
        </p:nvSpPr>
        <p:spPr>
          <a:xfrm>
            <a:off x="640080" y="3886200"/>
            <a:ext cx="3840480" cy="621792"/>
          </a:xfrm>
          <a:prstGeom prst="roundRect">
            <a:avLst>
              <a:gd name="adj" fmla="val 11765"/>
            </a:avLst>
          </a:prstGeom>
          <a:solidFill>
            <a:srgbClr val="0A2558"/>
          </a:solidFill>
          <a:ln w="12700">
            <a:solidFill>
              <a:srgbClr val="1E40AF"/>
            </a:solidFill>
            <a:prstDash val="solid"/>
          </a:ln>
        </p:spPr>
      </p:sp>
      <p:sp>
        <p:nvSpPr>
          <p:cNvPr id="13" name="Text 10"/>
          <p:cNvSpPr txBox="1"/>
          <p:nvPr/>
        </p:nvSpPr>
        <p:spPr>
          <a:xfrm>
            <a:off x="777240" y="3959352"/>
            <a:ext cx="3566160" cy="201168"/>
          </a:xfrm>
          <a:prstGeom prst="rect">
            <a:avLst/>
          </a:prstGeom>
          <a:noFill/>
          <a:ln/>
        </p:spPr>
        <p:txBody>
          <a:bodyPr wrap="square" lIns="0" tIns="0" rIns="0" bIns="0" rtlCol="0" anchor="ctr"/>
          <a:lstStyle/>
          <a:p>
            <a:pPr indent="0" marL="0">
              <a:buNone/>
            </a:pPr>
            <a:r>
              <a:rPr lang="en-US" sz="950" b="1" dirty="0">
                <a:solidFill>
                  <a:srgbClr val="FF2A54"/>
                </a:solidFill>
                <a:latin typeface="Arial" pitchFamily="34" charset="0"/>
                <a:ea typeface="Arial" pitchFamily="34" charset="-122"/>
                <a:cs typeface="Arial" pitchFamily="34" charset="-120"/>
              </a:rPr>
              <a:t>LEAFLET 03: KẾ TOÁN HÀNH CHÍNH  [👉 /admin (Kanban)]</a:t>
            </a:r>
            <a:endParaRPr lang="en-US" sz="950" dirty="0"/>
          </a:p>
        </p:txBody>
      </p:sp>
      <p:sp>
        <p:nvSpPr>
          <p:cNvPr id="14" name="Text 11"/>
          <p:cNvSpPr txBox="1"/>
          <p:nvPr/>
        </p:nvSpPr>
        <p:spPr>
          <a:xfrm>
            <a:off x="777240" y="4160520"/>
            <a:ext cx="3566160" cy="292608"/>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4 Cột Kanban, xuất M-invoice 32 cột, BBBG, ĐNTT &amp; Tuổi nợ</a:t>
            </a:r>
            <a:endParaRPr lang="en-US" sz="850" dirty="0"/>
          </a:p>
        </p:txBody>
      </p:sp>
      <p:sp>
        <p:nvSpPr>
          <p:cNvPr id="15" name="Shape 12"/>
          <p:cNvSpPr/>
          <p:nvPr/>
        </p:nvSpPr>
        <p:spPr>
          <a:xfrm>
            <a:off x="4663440" y="3886200"/>
            <a:ext cx="3840480" cy="621792"/>
          </a:xfrm>
          <a:prstGeom prst="roundRect">
            <a:avLst>
              <a:gd name="adj" fmla="val 11765"/>
            </a:avLst>
          </a:prstGeom>
          <a:solidFill>
            <a:srgbClr val="0A2558"/>
          </a:solidFill>
          <a:ln w="12700">
            <a:solidFill>
              <a:srgbClr val="1E40AF"/>
            </a:solidFill>
            <a:prstDash val="solid"/>
          </a:ln>
        </p:spPr>
      </p:sp>
      <p:sp>
        <p:nvSpPr>
          <p:cNvPr id="16" name="Text 13"/>
          <p:cNvSpPr txBox="1"/>
          <p:nvPr/>
        </p:nvSpPr>
        <p:spPr>
          <a:xfrm>
            <a:off x="4800600" y="3959352"/>
            <a:ext cx="3566160" cy="201168"/>
          </a:xfrm>
          <a:prstGeom prst="rect">
            <a:avLst/>
          </a:prstGeom>
          <a:noFill/>
          <a:ln/>
        </p:spPr>
        <p:txBody>
          <a:bodyPr wrap="square" lIns="0" tIns="0" rIns="0" bIns="0" rtlCol="0" anchor="ctr"/>
          <a:lstStyle/>
          <a:p>
            <a:pPr indent="0" marL="0">
              <a:buNone/>
            </a:pPr>
            <a:r>
              <a:rPr lang="en-US" sz="950" b="1" dirty="0">
                <a:solidFill>
                  <a:srgbClr val="FF2A54"/>
                </a:solidFill>
                <a:latin typeface="Arial" pitchFamily="34" charset="0"/>
                <a:ea typeface="Arial" pitchFamily="34" charset="-122"/>
                <a:cs typeface="Arial" pitchFamily="34" charset="-120"/>
              </a:rPr>
              <a:t>LEAFLET 04: PHÒNG KINH DOANH  [👉 /kho-thue]</a:t>
            </a:r>
            <a:endParaRPr lang="en-US" sz="950" dirty="0"/>
          </a:p>
        </p:txBody>
      </p:sp>
      <p:sp>
        <p:nvSpPr>
          <p:cNvPr id="17" name="Text 14"/>
          <p:cNvSpPr txBox="1"/>
          <p:nvPr/>
        </p:nvSpPr>
        <p:spPr>
          <a:xfrm>
            <a:off x="4800600" y="4160520"/>
            <a:ext cx="3566160" cy="292608"/>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Tra cứu máy sẵn sàng, đọc 3 màu trạng thái &amp; ký HĐ</a:t>
            </a:r>
            <a:endParaRPr lang="en-US" sz="850" dirty="0"/>
          </a:p>
        </p:txBody>
      </p:sp>
      <p:sp>
        <p:nvSpPr>
          <p:cNvPr id="18" name="Text 15"/>
          <p:cNvSpPr txBox="1"/>
          <p:nvPr/>
        </p:nvSpPr>
        <p:spPr>
          <a:xfrm>
            <a:off x="640080" y="4663440"/>
            <a:ext cx="7863840" cy="27432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 In từng tờ Leaflet A4 dán tại bàn làm việc hoặc lưu ảnh vào điện thoại để tra cứu thao tác hàng ngày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4114800" cy="22860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HƯỚNG DẪN TÁC NGHIỆP</a:t>
            </a:r>
            <a:endParaRPr lang="en-US" sz="95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600" b="1" dirty="0">
                <a:solidFill>
                  <a:srgbClr val="002B7F"/>
                </a:solidFill>
                <a:latin typeface="Arial" pitchFamily="34" charset="0"/>
                <a:ea typeface="Arial" pitchFamily="34" charset="-122"/>
                <a:cs typeface="Arial" pitchFamily="34" charset="-120"/>
              </a:rPr>
              <a:t>LEAFLET 01: DÀNH CHO KỸ THUẬT VIÊN HIỆN TRƯỜNG</a:t>
            </a:r>
            <a:endParaRPr lang="en-US" sz="1600" dirty="0"/>
          </a:p>
        </p:txBody>
      </p:sp>
      <p:sp>
        <p:nvSpPr>
          <p:cNvPr id="4" name="Shape 2"/>
          <p:cNvSpPr/>
          <p:nvPr/>
        </p:nvSpPr>
        <p:spPr>
          <a:xfrm>
            <a:off x="6858000" y="411480"/>
            <a:ext cx="173736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858000" y="411480"/>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KTV (SMARTPHONE)</a:t>
            </a:r>
            <a:endParaRPr lang="en-US" sz="900" dirty="0"/>
          </a:p>
        </p:txBody>
      </p:sp>
      <p:pic>
        <p:nvPicPr>
          <p:cNvPr id="6" name="Image 0" descr="D:\Claude Code\App So Cong tac\scripts\pptx-assets\leaflet-ktv.png">    </p:cNvPr>
          <p:cNvPicPr>
            <a:picLocks noChangeAspect="1"/>
          </p:cNvPicPr>
          <p:nvPr/>
        </p:nvPicPr>
        <p:blipFill>
          <a:blip r:embed="rId1"/>
          <a:stretch>
            <a:fillRect/>
          </a:stretch>
        </p:blipFill>
        <p:spPr>
          <a:xfrm>
            <a:off x="548640" y="1051560"/>
            <a:ext cx="3108960" cy="3749040"/>
          </a:xfrm>
          <a:prstGeom prst="rect">
            <a:avLst/>
          </a:prstGeom>
        </p:spPr>
      </p:pic>
      <p:sp>
        <p:nvSpPr>
          <p:cNvPr id="7" name="Shape 4"/>
          <p:cNvSpPr/>
          <p:nvPr/>
        </p:nvSpPr>
        <p:spPr>
          <a:xfrm>
            <a:off x="3840480" y="1051560"/>
            <a:ext cx="4754880" cy="658368"/>
          </a:xfrm>
          <a:prstGeom prst="roundRect">
            <a:avLst>
              <a:gd name="adj" fmla="val 11111"/>
            </a:avLst>
          </a:prstGeom>
          <a:solidFill>
            <a:srgbClr val="FFFFFF"/>
          </a:solidFill>
          <a:ln w="12700">
            <a:solidFill>
              <a:srgbClr val="CBD5E1"/>
            </a:solidFill>
            <a:prstDash val="solid"/>
          </a:ln>
        </p:spPr>
      </p:sp>
      <p:sp>
        <p:nvSpPr>
          <p:cNvPr id="8" name="Shape 5"/>
          <p:cNvSpPr/>
          <p:nvPr/>
        </p:nvSpPr>
        <p:spPr>
          <a:xfrm>
            <a:off x="3950208" y="1161288"/>
            <a:ext cx="320040" cy="320040"/>
          </a:xfrm>
          <a:prstGeom prst="roundRect">
            <a:avLst>
              <a:gd name="adj" fmla="val 17143"/>
            </a:avLst>
          </a:prstGeom>
          <a:solidFill>
            <a:srgbClr val="0047AB"/>
          </a:solidFill>
          <a:ln/>
        </p:spPr>
      </p:sp>
      <p:sp>
        <p:nvSpPr>
          <p:cNvPr id="9" name="Text 6"/>
          <p:cNvSpPr txBox="1"/>
          <p:nvPr/>
        </p:nvSpPr>
        <p:spPr>
          <a:xfrm>
            <a:off x="3950208" y="116128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7"/>
          <p:cNvSpPr txBox="1"/>
          <p:nvPr/>
        </p:nvSpPr>
        <p:spPr>
          <a:xfrm>
            <a:off x="4343400" y="112471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Đăng nhập 1-chạm &amp; Nhận việc</a:t>
            </a:r>
            <a:endParaRPr lang="en-US" sz="1000" dirty="0"/>
          </a:p>
        </p:txBody>
      </p:sp>
      <p:sp>
        <p:nvSpPr>
          <p:cNvPr id="11" name="Shape 8"/>
          <p:cNvSpPr/>
          <p:nvPr/>
        </p:nvSpPr>
        <p:spPr>
          <a:xfrm>
            <a:off x="7452360" y="1124712"/>
            <a:ext cx="1051560" cy="182880"/>
          </a:xfrm>
          <a:prstGeom prst="roundRect">
            <a:avLst>
              <a:gd name="adj" fmla="val 20000"/>
            </a:avLst>
          </a:prstGeom>
          <a:solidFill>
            <a:srgbClr val="F1F5F9"/>
          </a:solidFill>
          <a:ln w="6350">
            <a:solidFill>
              <a:srgbClr val="CBD5E1"/>
            </a:solidFill>
            <a:prstDash val="solid"/>
          </a:ln>
        </p:spPr>
      </p:sp>
      <p:sp>
        <p:nvSpPr>
          <p:cNvPr id="12" name="Text 9"/>
          <p:cNvSpPr txBox="1"/>
          <p:nvPr/>
        </p:nvSpPr>
        <p:spPr>
          <a:xfrm>
            <a:off x="7452360" y="112471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BẮT ĐẦU NGÀY</a:t>
            </a:r>
            <a:endParaRPr lang="en-US" sz="750" dirty="0"/>
          </a:p>
        </p:txBody>
      </p:sp>
      <p:sp>
        <p:nvSpPr>
          <p:cNvPr id="13" name="Text 10"/>
          <p:cNvSpPr txBox="1"/>
          <p:nvPr/>
        </p:nvSpPr>
        <p:spPr>
          <a:xfrm>
            <a:off x="4343400" y="132588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Truy cập hast-services.vercel.app/ktv. Đăng nhập bằng Vân tay / Face ID (Passkey). Vào tab "Công việc": thấy phiếu đích danh hoặc bấm "Nhận việc" từ Pool chung.</a:t>
            </a:r>
            <a:endParaRPr lang="en-US" sz="850" dirty="0"/>
          </a:p>
        </p:txBody>
      </p:sp>
      <p:sp>
        <p:nvSpPr>
          <p:cNvPr id="14" name="Shape 11"/>
          <p:cNvSpPr/>
          <p:nvPr/>
        </p:nvSpPr>
        <p:spPr>
          <a:xfrm>
            <a:off x="3840480" y="1783080"/>
            <a:ext cx="4754880" cy="658368"/>
          </a:xfrm>
          <a:prstGeom prst="roundRect">
            <a:avLst>
              <a:gd name="adj" fmla="val 11111"/>
            </a:avLst>
          </a:prstGeom>
          <a:solidFill>
            <a:srgbClr val="FFFFFF"/>
          </a:solidFill>
          <a:ln w="12700">
            <a:solidFill>
              <a:srgbClr val="CBD5E1"/>
            </a:solidFill>
            <a:prstDash val="solid"/>
          </a:ln>
        </p:spPr>
      </p:sp>
      <p:sp>
        <p:nvSpPr>
          <p:cNvPr id="15" name="Shape 12"/>
          <p:cNvSpPr/>
          <p:nvPr/>
        </p:nvSpPr>
        <p:spPr>
          <a:xfrm>
            <a:off x="3950208" y="1892808"/>
            <a:ext cx="320040" cy="320040"/>
          </a:xfrm>
          <a:prstGeom prst="roundRect">
            <a:avLst>
              <a:gd name="adj" fmla="val 17143"/>
            </a:avLst>
          </a:prstGeom>
          <a:solidFill>
            <a:srgbClr val="0047AB"/>
          </a:solidFill>
          <a:ln/>
        </p:spPr>
      </p:sp>
      <p:sp>
        <p:nvSpPr>
          <p:cNvPr id="16" name="Text 13"/>
          <p:cNvSpPr txBox="1"/>
          <p:nvPr/>
        </p:nvSpPr>
        <p:spPr>
          <a:xfrm>
            <a:off x="3950208" y="189280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4"/>
          <p:cNvSpPr txBox="1"/>
          <p:nvPr/>
        </p:nvSpPr>
        <p:spPr>
          <a:xfrm>
            <a:off x="4343400" y="185623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Đến nơi: Bấm nút "ĐANG LÀM"</a:t>
            </a:r>
            <a:endParaRPr lang="en-US" sz="1000" dirty="0"/>
          </a:p>
        </p:txBody>
      </p:sp>
      <p:sp>
        <p:nvSpPr>
          <p:cNvPr id="18" name="Shape 15"/>
          <p:cNvSpPr/>
          <p:nvPr/>
        </p:nvSpPr>
        <p:spPr>
          <a:xfrm>
            <a:off x="7452360" y="1856232"/>
            <a:ext cx="1051560" cy="182880"/>
          </a:xfrm>
          <a:prstGeom prst="roundRect">
            <a:avLst>
              <a:gd name="adj" fmla="val 20000"/>
            </a:avLst>
          </a:prstGeom>
          <a:solidFill>
            <a:srgbClr val="F1F5F9"/>
          </a:solidFill>
          <a:ln w="6350">
            <a:solidFill>
              <a:srgbClr val="CBD5E1"/>
            </a:solidFill>
            <a:prstDash val="solid"/>
          </a:ln>
        </p:spPr>
      </p:sp>
      <p:sp>
        <p:nvSpPr>
          <p:cNvPr id="19" name="Text 16"/>
          <p:cNvSpPr txBox="1"/>
          <p:nvPr/>
        </p:nvSpPr>
        <p:spPr>
          <a:xfrm>
            <a:off x="7452360" y="185623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CHẠM MÁY KHÁCH</a:t>
            </a:r>
            <a:endParaRPr lang="en-US" sz="750" dirty="0"/>
          </a:p>
        </p:txBody>
      </p:sp>
      <p:sp>
        <p:nvSpPr>
          <p:cNvPr id="20" name="Text 17"/>
          <p:cNvSpPr txBox="1"/>
          <p:nvPr/>
        </p:nvSpPr>
        <p:spPr>
          <a:xfrm>
            <a:off x="4343400" y="205740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Ngay khi chạm tay vào máy khách hàng, bắt buộc bấm "Đang làm" để app kích hoạt bộ đếm giờ lead-time đo lường năng suất xử lý thực tế.</a:t>
            </a:r>
            <a:endParaRPr lang="en-US" sz="850" dirty="0"/>
          </a:p>
        </p:txBody>
      </p:sp>
      <p:sp>
        <p:nvSpPr>
          <p:cNvPr id="21" name="Shape 18"/>
          <p:cNvSpPr/>
          <p:nvPr/>
        </p:nvSpPr>
        <p:spPr>
          <a:xfrm>
            <a:off x="3840480" y="2514600"/>
            <a:ext cx="4754880" cy="658368"/>
          </a:xfrm>
          <a:prstGeom prst="roundRect">
            <a:avLst>
              <a:gd name="adj" fmla="val 11111"/>
            </a:avLst>
          </a:prstGeom>
          <a:solidFill>
            <a:srgbClr val="FFFFFF"/>
          </a:solidFill>
          <a:ln w="12700">
            <a:solidFill>
              <a:srgbClr val="CBD5E1"/>
            </a:solidFill>
            <a:prstDash val="solid"/>
          </a:ln>
        </p:spPr>
      </p:sp>
      <p:sp>
        <p:nvSpPr>
          <p:cNvPr id="22" name="Shape 19"/>
          <p:cNvSpPr/>
          <p:nvPr/>
        </p:nvSpPr>
        <p:spPr>
          <a:xfrm>
            <a:off x="3950208" y="2624328"/>
            <a:ext cx="320040" cy="320040"/>
          </a:xfrm>
          <a:prstGeom prst="roundRect">
            <a:avLst>
              <a:gd name="adj" fmla="val 17143"/>
            </a:avLst>
          </a:prstGeom>
          <a:solidFill>
            <a:srgbClr val="0047AB"/>
          </a:solidFill>
          <a:ln/>
        </p:spPr>
      </p:sp>
      <p:sp>
        <p:nvSpPr>
          <p:cNvPr id="23" name="Text 20"/>
          <p:cNvSpPr txBox="1"/>
          <p:nvPr/>
        </p:nvSpPr>
        <p:spPr>
          <a:xfrm>
            <a:off x="3950208" y="262432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4" name="Text 21"/>
          <p:cNvSpPr txBox="1"/>
          <p:nvPr/>
        </p:nvSpPr>
        <p:spPr>
          <a:xfrm>
            <a:off x="4343400" y="258775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Xử lý xong: Bấm nút "✓ HOÀN THÀNH"</a:t>
            </a:r>
            <a:endParaRPr lang="en-US" sz="1000" dirty="0"/>
          </a:p>
        </p:txBody>
      </p:sp>
      <p:sp>
        <p:nvSpPr>
          <p:cNvPr id="25" name="Shape 22"/>
          <p:cNvSpPr/>
          <p:nvPr/>
        </p:nvSpPr>
        <p:spPr>
          <a:xfrm>
            <a:off x="7452360" y="2587752"/>
            <a:ext cx="1051560" cy="182880"/>
          </a:xfrm>
          <a:prstGeom prst="roundRect">
            <a:avLst>
              <a:gd name="adj" fmla="val 20000"/>
            </a:avLst>
          </a:prstGeom>
          <a:solidFill>
            <a:srgbClr val="F1F5F9"/>
          </a:solidFill>
          <a:ln w="6350">
            <a:solidFill>
              <a:srgbClr val="CBD5E1"/>
            </a:solidFill>
            <a:prstDash val="solid"/>
          </a:ln>
        </p:spPr>
      </p:sp>
      <p:sp>
        <p:nvSpPr>
          <p:cNvPr id="26" name="Text 23"/>
          <p:cNvSpPr txBox="1"/>
          <p:nvPr/>
        </p:nvSpPr>
        <p:spPr>
          <a:xfrm>
            <a:off x="7452360" y="258775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TRƯỚC KHI VỀ</a:t>
            </a:r>
            <a:endParaRPr lang="en-US" sz="750" dirty="0"/>
          </a:p>
        </p:txBody>
      </p:sp>
      <p:sp>
        <p:nvSpPr>
          <p:cNvPr id="27" name="Text 24"/>
          <p:cNvSpPr txBox="1"/>
          <p:nvPr/>
        </p:nvSpPr>
        <p:spPr>
          <a:xfrm>
            <a:off x="4343400" y="278892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Kiểm tra vật tư/mực đã thay chuẩn chỉnh. Bấm "Hoàn thành" trước khi rời máy để hệ thống tự động trừ kho và chuyển dữ liệu sang Kế toán.</a:t>
            </a:r>
            <a:endParaRPr lang="en-US" sz="850" dirty="0"/>
          </a:p>
        </p:txBody>
      </p:sp>
      <p:sp>
        <p:nvSpPr>
          <p:cNvPr id="28" name="Shape 25"/>
          <p:cNvSpPr/>
          <p:nvPr/>
        </p:nvSpPr>
        <p:spPr>
          <a:xfrm>
            <a:off x="3840480" y="3246120"/>
            <a:ext cx="4754880" cy="658368"/>
          </a:xfrm>
          <a:prstGeom prst="roundRect">
            <a:avLst>
              <a:gd name="adj" fmla="val 11111"/>
            </a:avLst>
          </a:prstGeom>
          <a:solidFill>
            <a:srgbClr val="FFFFFF"/>
          </a:solidFill>
          <a:ln w="12700">
            <a:solidFill>
              <a:srgbClr val="CBD5E1"/>
            </a:solidFill>
            <a:prstDash val="solid"/>
          </a:ln>
        </p:spPr>
      </p:sp>
      <p:sp>
        <p:nvSpPr>
          <p:cNvPr id="29" name="Shape 26"/>
          <p:cNvSpPr/>
          <p:nvPr/>
        </p:nvSpPr>
        <p:spPr>
          <a:xfrm>
            <a:off x="3950208" y="3355848"/>
            <a:ext cx="320040" cy="320040"/>
          </a:xfrm>
          <a:prstGeom prst="roundRect">
            <a:avLst>
              <a:gd name="adj" fmla="val 17143"/>
            </a:avLst>
          </a:prstGeom>
          <a:solidFill>
            <a:srgbClr val="0047AB"/>
          </a:solidFill>
          <a:ln/>
        </p:spPr>
      </p:sp>
      <p:sp>
        <p:nvSpPr>
          <p:cNvPr id="30" name="Text 27"/>
          <p:cNvSpPr txBox="1"/>
          <p:nvPr/>
        </p:nvSpPr>
        <p:spPr>
          <a:xfrm>
            <a:off x="3950208" y="335584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4343400" y="331927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Báo cáo ngày (trước 18h) &amp; Nghỉ phép</a:t>
            </a:r>
            <a:endParaRPr lang="en-US" sz="1000" dirty="0"/>
          </a:p>
        </p:txBody>
      </p:sp>
      <p:sp>
        <p:nvSpPr>
          <p:cNvPr id="32" name="Shape 29"/>
          <p:cNvSpPr/>
          <p:nvPr/>
        </p:nvSpPr>
        <p:spPr>
          <a:xfrm>
            <a:off x="7452360" y="3319272"/>
            <a:ext cx="1051560" cy="182880"/>
          </a:xfrm>
          <a:prstGeom prst="roundRect">
            <a:avLst>
              <a:gd name="adj" fmla="val 20000"/>
            </a:avLst>
          </a:prstGeom>
          <a:solidFill>
            <a:srgbClr val="F1F5F9"/>
          </a:solidFill>
          <a:ln w="6350">
            <a:solidFill>
              <a:srgbClr val="CBD5E1"/>
            </a:solidFill>
            <a:prstDash val="solid"/>
          </a:ln>
        </p:spPr>
      </p:sp>
      <p:sp>
        <p:nvSpPr>
          <p:cNvPr id="33" name="Text 30"/>
          <p:cNvSpPr txBox="1"/>
          <p:nvPr/>
        </p:nvSpPr>
        <p:spPr>
          <a:xfrm>
            <a:off x="7452360" y="331927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HÀNH CHÍNH</a:t>
            </a:r>
            <a:endParaRPr lang="en-US" sz="750" dirty="0"/>
          </a:p>
        </p:txBody>
      </p:sp>
      <p:sp>
        <p:nvSpPr>
          <p:cNvPr id="34" name="Text 31"/>
          <p:cNvSpPr txBox="1"/>
          <p:nvPr/>
        </p:nvSpPr>
        <p:spPr>
          <a:xfrm>
            <a:off x="4343400" y="352044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Cuối ngày vào tab "Báo cáo ngày" gửi vắn tắt kết quả. Khi cần nghỉ phép/ốm, chuyển tab "Nghỉ phép" đăng ký để văn phòng duyệt trực tuyến.</a:t>
            </a:r>
            <a:endParaRPr lang="en-US" sz="850" dirty="0"/>
          </a:p>
        </p:txBody>
      </p:sp>
      <p:sp>
        <p:nvSpPr>
          <p:cNvPr id="35" name="Shape 32"/>
          <p:cNvSpPr/>
          <p:nvPr/>
        </p:nvSpPr>
        <p:spPr>
          <a:xfrm>
            <a:off x="3840480" y="3977640"/>
            <a:ext cx="4754880" cy="822960"/>
          </a:xfrm>
          <a:prstGeom prst="roundRect">
            <a:avLst>
              <a:gd name="adj" fmla="val 8889"/>
            </a:avLst>
          </a:prstGeom>
          <a:solidFill>
            <a:srgbClr val="FEF2F2"/>
          </a:solidFill>
          <a:ln w="19050">
            <a:solidFill>
              <a:srgbClr val="FECDD3"/>
            </a:solidFill>
            <a:prstDash val="solid"/>
          </a:ln>
        </p:spPr>
      </p:sp>
      <p:sp>
        <p:nvSpPr>
          <p:cNvPr id="36" name="Text 33"/>
          <p:cNvSpPr txBox="1"/>
          <p:nvPr/>
        </p:nvSpPr>
        <p:spPr>
          <a:xfrm>
            <a:off x="3977640" y="4050792"/>
            <a:ext cx="4480560" cy="18288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 3 ĐIỀU TUYỆT ĐỐI CẤM KỴ CỦA KTV HIỆN TRƯỜNG:</a:t>
            </a:r>
            <a:endParaRPr lang="en-US" sz="950" dirty="0"/>
          </a:p>
        </p:txBody>
      </p:sp>
      <p:sp>
        <p:nvSpPr>
          <p:cNvPr id="37" name="Text 34"/>
          <p:cNvSpPr txBox="1"/>
          <p:nvPr/>
        </p:nvSpPr>
        <p:spPr>
          <a:xfrm>
            <a:off x="3977640" y="4251960"/>
            <a:ext cx="4480560" cy="502920"/>
          </a:xfrm>
          <a:prstGeom prst="rect">
            <a:avLst/>
          </a:prstGeom>
          <a:noFill/>
          <a:ln/>
        </p:spPr>
        <p:txBody>
          <a:bodyPr wrap="square" lIns="0" tIns="0" rIns="0" bIns="0" rtlCol="0" anchor="ctr"/>
          <a:lstStyle/>
          <a:p>
            <a:pPr indent="0" marL="0">
              <a:buNone/>
            </a:pPr>
            <a:r>
              <a:rPr lang="en-US" sz="850" dirty="0">
                <a:solidFill>
                  <a:srgbClr val="991B1B"/>
                </a:solidFill>
                <a:latin typeface="Calibri" pitchFamily="34" charset="0"/>
                <a:ea typeface="Calibri" pitchFamily="34" charset="-122"/>
                <a:cs typeface="Calibri" pitchFamily="34" charset="-120"/>
              </a:rPr>
              <a:t>• KHÔNG bấm "Hoàn thành" khi chưa rời khách (tránh trừ kho và đẩy HĐ sớm).</a:t>
            </a:r>
            <a:pPr indent="0" marL="0">
              <a:buNone/>
            </a:pPr>
            <a:r>
              <a:rPr lang="en-US" sz="850" dirty="0">
                <a:solidFill>
                  <a:srgbClr val="991B1B"/>
                </a:solidFill>
                <a:latin typeface="Calibri" pitchFamily="34" charset="0"/>
                <a:ea typeface="Calibri" pitchFamily="34" charset="-122"/>
                <a:cs typeface="Calibri" pitchFamily="34" charset="-120"/>
              </a:rPr>
              <a:t>• KHÔNG nhận việc hộ người khác bằng tài khoản của mình (sai lệch KPI &amp; lead-time).</a:t>
            </a:r>
            <a:pPr indent="0" marL="0">
              <a:buNone/>
            </a:pPr>
            <a:r>
              <a:rPr lang="en-US" sz="850" dirty="0">
                <a:solidFill>
                  <a:srgbClr val="991B1B"/>
                </a:solidFill>
                <a:latin typeface="Calibri" pitchFamily="34" charset="0"/>
                <a:ea typeface="Calibri" pitchFamily="34" charset="-122"/>
                <a:cs typeface="Calibri" pitchFamily="34" charset="-120"/>
              </a:rPr>
              <a:t>• KHÔNG xóa dữ liệu web / tải lại trang khi đang có hàng đợi Offline Q &gt; 0 dưới hầm.</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4114800" cy="22860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HƯỚNG DẪN TÁC NGHIỆP</a:t>
            </a:r>
            <a:endParaRPr lang="en-US" sz="95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600" b="1" dirty="0">
                <a:solidFill>
                  <a:srgbClr val="002B7F"/>
                </a:solidFill>
                <a:latin typeface="Arial" pitchFamily="34" charset="0"/>
                <a:ea typeface="Arial" pitchFamily="34" charset="-122"/>
                <a:cs typeface="Arial" pitchFamily="34" charset="-120"/>
              </a:rPr>
              <a:t>LEAFLET 02: DÀNH CHO VĂN PHÒNG ĐIỀU PHỐI KỸ THUẬT</a:t>
            </a:r>
            <a:endParaRPr lang="en-US" sz="1600" dirty="0"/>
          </a:p>
        </p:txBody>
      </p:sp>
      <p:sp>
        <p:nvSpPr>
          <p:cNvPr id="4" name="Shape 2"/>
          <p:cNvSpPr/>
          <p:nvPr/>
        </p:nvSpPr>
        <p:spPr>
          <a:xfrm>
            <a:off x="6858000" y="411480"/>
            <a:ext cx="173736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858000" y="411480"/>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TECH_ADMIN · STAFF</a:t>
            </a:r>
            <a:endParaRPr lang="en-US" sz="900" dirty="0"/>
          </a:p>
        </p:txBody>
      </p:sp>
      <p:pic>
        <p:nvPicPr>
          <p:cNvPr id="6" name="Image 0" descr="D:\Claude Code\App So Cong tac\scripts\pptx-assets\leaflet-office.png">    </p:cNvPr>
          <p:cNvPicPr>
            <a:picLocks noChangeAspect="1"/>
          </p:cNvPicPr>
          <p:nvPr/>
        </p:nvPicPr>
        <p:blipFill>
          <a:blip r:embed="rId1"/>
          <a:stretch>
            <a:fillRect/>
          </a:stretch>
        </p:blipFill>
        <p:spPr>
          <a:xfrm>
            <a:off x="548640" y="1051560"/>
            <a:ext cx="3108960" cy="3749040"/>
          </a:xfrm>
          <a:prstGeom prst="rect">
            <a:avLst/>
          </a:prstGeom>
        </p:spPr>
      </p:pic>
      <p:sp>
        <p:nvSpPr>
          <p:cNvPr id="7" name="Shape 4"/>
          <p:cNvSpPr/>
          <p:nvPr/>
        </p:nvSpPr>
        <p:spPr>
          <a:xfrm>
            <a:off x="3840480" y="1051560"/>
            <a:ext cx="4754880" cy="658368"/>
          </a:xfrm>
          <a:prstGeom prst="roundRect">
            <a:avLst>
              <a:gd name="adj" fmla="val 11111"/>
            </a:avLst>
          </a:prstGeom>
          <a:solidFill>
            <a:srgbClr val="FFFFFF"/>
          </a:solidFill>
          <a:ln w="12700">
            <a:solidFill>
              <a:srgbClr val="CBD5E1"/>
            </a:solidFill>
            <a:prstDash val="solid"/>
          </a:ln>
        </p:spPr>
      </p:sp>
      <p:sp>
        <p:nvSpPr>
          <p:cNvPr id="8" name="Shape 5"/>
          <p:cNvSpPr/>
          <p:nvPr/>
        </p:nvSpPr>
        <p:spPr>
          <a:xfrm>
            <a:off x="3950208" y="1161288"/>
            <a:ext cx="320040" cy="320040"/>
          </a:xfrm>
          <a:prstGeom prst="roundRect">
            <a:avLst>
              <a:gd name="adj" fmla="val 17143"/>
            </a:avLst>
          </a:prstGeom>
          <a:solidFill>
            <a:srgbClr val="0047AB"/>
          </a:solidFill>
          <a:ln/>
        </p:spPr>
      </p:sp>
      <p:sp>
        <p:nvSpPr>
          <p:cNvPr id="9" name="Text 6"/>
          <p:cNvSpPr txBox="1"/>
          <p:nvPr/>
        </p:nvSpPr>
        <p:spPr>
          <a:xfrm>
            <a:off x="3950208" y="116128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7"/>
          <p:cNvSpPr txBox="1"/>
          <p:nvPr/>
        </p:nvSpPr>
        <p:spPr>
          <a:xfrm>
            <a:off x="4343400" y="112471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Tiếp nhận cuộc gọi: Bắt buộc chọn Mã máy</a:t>
            </a:r>
            <a:endParaRPr lang="en-US" sz="1000" dirty="0"/>
          </a:p>
        </p:txBody>
      </p:sp>
      <p:sp>
        <p:nvSpPr>
          <p:cNvPr id="11" name="Shape 8"/>
          <p:cNvSpPr/>
          <p:nvPr/>
        </p:nvSpPr>
        <p:spPr>
          <a:xfrm>
            <a:off x="7452360" y="1124712"/>
            <a:ext cx="1051560" cy="182880"/>
          </a:xfrm>
          <a:prstGeom prst="roundRect">
            <a:avLst>
              <a:gd name="adj" fmla="val 20000"/>
            </a:avLst>
          </a:prstGeom>
          <a:solidFill>
            <a:srgbClr val="F1F5F9"/>
          </a:solidFill>
          <a:ln w="6350">
            <a:solidFill>
              <a:srgbClr val="CBD5E1"/>
            </a:solidFill>
            <a:prstDash val="solid"/>
          </a:ln>
        </p:spPr>
      </p:sp>
      <p:sp>
        <p:nvSpPr>
          <p:cNvPr id="12" name="Text 9"/>
          <p:cNvSpPr txBox="1"/>
          <p:nvPr/>
        </p:nvSpPr>
        <p:spPr>
          <a:xfrm>
            <a:off x="7452360" y="112471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TẠO PHIẾU</a:t>
            </a:r>
            <a:endParaRPr lang="en-US" sz="750" dirty="0"/>
          </a:p>
        </p:txBody>
      </p:sp>
      <p:sp>
        <p:nvSpPr>
          <p:cNvPr id="13" name="Text 10"/>
          <p:cNvSpPr txBox="1"/>
          <p:nvPr/>
        </p:nvSpPr>
        <p:spPr>
          <a:xfrm>
            <a:off x="4343400" y="132588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Gõ mã máy (VD: 36051) ➔ Hệ thống tự điền tên khách và địa chỉ. Nếu máy có Biên bản giám định chờ thay ➔ Bấm "Lấy theo Giám định" để tự động gợi ý linh kiện.</a:t>
            </a:r>
            <a:endParaRPr lang="en-US" sz="850" dirty="0"/>
          </a:p>
        </p:txBody>
      </p:sp>
      <p:sp>
        <p:nvSpPr>
          <p:cNvPr id="14" name="Shape 11"/>
          <p:cNvSpPr/>
          <p:nvPr/>
        </p:nvSpPr>
        <p:spPr>
          <a:xfrm>
            <a:off x="3840480" y="1783080"/>
            <a:ext cx="4754880" cy="658368"/>
          </a:xfrm>
          <a:prstGeom prst="roundRect">
            <a:avLst>
              <a:gd name="adj" fmla="val 11111"/>
            </a:avLst>
          </a:prstGeom>
          <a:solidFill>
            <a:srgbClr val="FFFFFF"/>
          </a:solidFill>
          <a:ln w="12700">
            <a:solidFill>
              <a:srgbClr val="CBD5E1"/>
            </a:solidFill>
            <a:prstDash val="solid"/>
          </a:ln>
        </p:spPr>
      </p:sp>
      <p:sp>
        <p:nvSpPr>
          <p:cNvPr id="15" name="Shape 12"/>
          <p:cNvSpPr/>
          <p:nvPr/>
        </p:nvSpPr>
        <p:spPr>
          <a:xfrm>
            <a:off x="3950208" y="1892808"/>
            <a:ext cx="320040" cy="320040"/>
          </a:xfrm>
          <a:prstGeom prst="roundRect">
            <a:avLst>
              <a:gd name="adj" fmla="val 17143"/>
            </a:avLst>
          </a:prstGeom>
          <a:solidFill>
            <a:srgbClr val="0047AB"/>
          </a:solidFill>
          <a:ln/>
        </p:spPr>
      </p:sp>
      <p:sp>
        <p:nvSpPr>
          <p:cNvPr id="16" name="Text 13"/>
          <p:cNvSpPr txBox="1"/>
          <p:nvPr/>
        </p:nvSpPr>
        <p:spPr>
          <a:xfrm>
            <a:off x="3950208" y="189280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4"/>
          <p:cNvSpPr txBox="1"/>
          <p:nvPr/>
        </p:nvSpPr>
        <p:spPr>
          <a:xfrm>
            <a:off x="4343400" y="185623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Cơ chế Giao việc: Gán đích danh hoặc Pool</a:t>
            </a:r>
            <a:endParaRPr lang="en-US" sz="1000" dirty="0"/>
          </a:p>
        </p:txBody>
      </p:sp>
      <p:sp>
        <p:nvSpPr>
          <p:cNvPr id="18" name="Shape 15"/>
          <p:cNvSpPr/>
          <p:nvPr/>
        </p:nvSpPr>
        <p:spPr>
          <a:xfrm>
            <a:off x="7452360" y="1856232"/>
            <a:ext cx="1051560" cy="182880"/>
          </a:xfrm>
          <a:prstGeom prst="roundRect">
            <a:avLst>
              <a:gd name="adj" fmla="val 20000"/>
            </a:avLst>
          </a:prstGeom>
          <a:solidFill>
            <a:srgbClr val="F1F5F9"/>
          </a:solidFill>
          <a:ln w="6350">
            <a:solidFill>
              <a:srgbClr val="CBD5E1"/>
            </a:solidFill>
            <a:prstDash val="solid"/>
          </a:ln>
        </p:spPr>
      </p:sp>
      <p:sp>
        <p:nvSpPr>
          <p:cNvPr id="19" name="Text 16"/>
          <p:cNvSpPr txBox="1"/>
          <p:nvPr/>
        </p:nvSpPr>
        <p:spPr>
          <a:xfrm>
            <a:off x="7452360" y="185623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ĐIỀU PHỐI</a:t>
            </a:r>
            <a:endParaRPr lang="en-US" sz="750" dirty="0"/>
          </a:p>
        </p:txBody>
      </p:sp>
      <p:sp>
        <p:nvSpPr>
          <p:cNvPr id="20" name="Text 17"/>
          <p:cNvSpPr txBox="1"/>
          <p:nvPr/>
        </p:nvSpPr>
        <p:spPr>
          <a:xfrm>
            <a:off x="4343400" y="205740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Gán đích danh cho KTV (bắn DM riêng). Hoặc chọn "Chưa gán" để đẩy vào Pool chung (bắn group Telegram, bot tự động sửa lại tin nhắn khi có thợ bấm nhận).</a:t>
            </a:r>
            <a:endParaRPr lang="en-US" sz="850" dirty="0"/>
          </a:p>
        </p:txBody>
      </p:sp>
      <p:sp>
        <p:nvSpPr>
          <p:cNvPr id="21" name="Shape 18"/>
          <p:cNvSpPr/>
          <p:nvPr/>
        </p:nvSpPr>
        <p:spPr>
          <a:xfrm>
            <a:off x="3840480" y="2514600"/>
            <a:ext cx="4754880" cy="658368"/>
          </a:xfrm>
          <a:prstGeom prst="roundRect">
            <a:avLst>
              <a:gd name="adj" fmla="val 11111"/>
            </a:avLst>
          </a:prstGeom>
          <a:solidFill>
            <a:srgbClr val="FFFFFF"/>
          </a:solidFill>
          <a:ln w="12700">
            <a:solidFill>
              <a:srgbClr val="CBD5E1"/>
            </a:solidFill>
            <a:prstDash val="solid"/>
          </a:ln>
        </p:spPr>
      </p:sp>
      <p:sp>
        <p:nvSpPr>
          <p:cNvPr id="22" name="Shape 19"/>
          <p:cNvSpPr/>
          <p:nvPr/>
        </p:nvSpPr>
        <p:spPr>
          <a:xfrm>
            <a:off x="3950208" y="2624328"/>
            <a:ext cx="320040" cy="320040"/>
          </a:xfrm>
          <a:prstGeom prst="roundRect">
            <a:avLst>
              <a:gd name="adj" fmla="val 17143"/>
            </a:avLst>
          </a:prstGeom>
          <a:solidFill>
            <a:srgbClr val="0047AB"/>
          </a:solidFill>
          <a:ln/>
        </p:spPr>
      </p:sp>
      <p:sp>
        <p:nvSpPr>
          <p:cNvPr id="23" name="Text 20"/>
          <p:cNvSpPr txBox="1"/>
          <p:nvPr/>
        </p:nvSpPr>
        <p:spPr>
          <a:xfrm>
            <a:off x="3950208" y="262432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4" name="Text 21"/>
          <p:cNvSpPr txBox="1"/>
          <p:nvPr/>
        </p:nvSpPr>
        <p:spPr>
          <a:xfrm>
            <a:off x="4343400" y="258775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Xem Chuông cảnh báo &amp; Tạo PO Đặt hàng</a:t>
            </a:r>
            <a:endParaRPr lang="en-US" sz="1000" dirty="0"/>
          </a:p>
        </p:txBody>
      </p:sp>
      <p:sp>
        <p:nvSpPr>
          <p:cNvPr id="25" name="Shape 22"/>
          <p:cNvSpPr/>
          <p:nvPr/>
        </p:nvSpPr>
        <p:spPr>
          <a:xfrm>
            <a:off x="7452360" y="2587752"/>
            <a:ext cx="1051560" cy="182880"/>
          </a:xfrm>
          <a:prstGeom prst="roundRect">
            <a:avLst>
              <a:gd name="adj" fmla="val 20000"/>
            </a:avLst>
          </a:prstGeom>
          <a:solidFill>
            <a:srgbClr val="F1F5F9"/>
          </a:solidFill>
          <a:ln w="6350">
            <a:solidFill>
              <a:srgbClr val="CBD5E1"/>
            </a:solidFill>
            <a:prstDash val="solid"/>
          </a:ln>
        </p:spPr>
      </p:sp>
      <p:sp>
        <p:nvSpPr>
          <p:cNvPr id="26" name="Text 23"/>
          <p:cNvSpPr txBox="1"/>
          <p:nvPr/>
        </p:nvSpPr>
        <p:spPr>
          <a:xfrm>
            <a:off x="7452360" y="258775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KHO &amp; MUA HÀNG</a:t>
            </a:r>
            <a:endParaRPr lang="en-US" sz="750" dirty="0"/>
          </a:p>
        </p:txBody>
      </p:sp>
      <p:sp>
        <p:nvSpPr>
          <p:cNvPr id="27" name="Text 24"/>
          <p:cNvSpPr txBox="1"/>
          <p:nvPr/>
        </p:nvSpPr>
        <p:spPr>
          <a:xfrm>
            <a:off x="4343400" y="278892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Nhìn Chuông đỏ trên Header để thấy vật tư chạm ngưỡng. Vào tab Đặt hàng: Lọc "Dưới ngưỡng" ➔ Nhập SL ➔ Bấm "+ Giỏ" ➔ Bấm "Tạo đơn PO Nháp" ➔ Xuất Excel gửi NCC.</a:t>
            </a:r>
            <a:endParaRPr lang="en-US" sz="850" dirty="0"/>
          </a:p>
        </p:txBody>
      </p:sp>
      <p:sp>
        <p:nvSpPr>
          <p:cNvPr id="28" name="Shape 25"/>
          <p:cNvSpPr/>
          <p:nvPr/>
        </p:nvSpPr>
        <p:spPr>
          <a:xfrm>
            <a:off x="3840480" y="3246120"/>
            <a:ext cx="4754880" cy="658368"/>
          </a:xfrm>
          <a:prstGeom prst="roundRect">
            <a:avLst>
              <a:gd name="adj" fmla="val 11111"/>
            </a:avLst>
          </a:prstGeom>
          <a:solidFill>
            <a:srgbClr val="FFFFFF"/>
          </a:solidFill>
          <a:ln w="12700">
            <a:solidFill>
              <a:srgbClr val="CBD5E1"/>
            </a:solidFill>
            <a:prstDash val="solid"/>
          </a:ln>
        </p:spPr>
      </p:sp>
      <p:sp>
        <p:nvSpPr>
          <p:cNvPr id="29" name="Shape 26"/>
          <p:cNvSpPr/>
          <p:nvPr/>
        </p:nvSpPr>
        <p:spPr>
          <a:xfrm>
            <a:off x="3950208" y="3355848"/>
            <a:ext cx="320040" cy="320040"/>
          </a:xfrm>
          <a:prstGeom prst="roundRect">
            <a:avLst>
              <a:gd name="adj" fmla="val 17143"/>
            </a:avLst>
          </a:prstGeom>
          <a:solidFill>
            <a:srgbClr val="0047AB"/>
          </a:solidFill>
          <a:ln/>
        </p:spPr>
      </p:sp>
      <p:sp>
        <p:nvSpPr>
          <p:cNvPr id="30" name="Text 27"/>
          <p:cNvSpPr txBox="1"/>
          <p:nvPr/>
        </p:nvSpPr>
        <p:spPr>
          <a:xfrm>
            <a:off x="3950208" y="335584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4343400" y="331927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In Sổ bảo trì &amp; Xuất Báo giá 4 trang</a:t>
            </a:r>
            <a:endParaRPr lang="en-US" sz="1000" dirty="0"/>
          </a:p>
        </p:txBody>
      </p:sp>
      <p:sp>
        <p:nvSpPr>
          <p:cNvPr id="32" name="Shape 29"/>
          <p:cNvSpPr/>
          <p:nvPr/>
        </p:nvSpPr>
        <p:spPr>
          <a:xfrm>
            <a:off x="7452360" y="3319272"/>
            <a:ext cx="1051560" cy="182880"/>
          </a:xfrm>
          <a:prstGeom prst="roundRect">
            <a:avLst>
              <a:gd name="adj" fmla="val 20000"/>
            </a:avLst>
          </a:prstGeom>
          <a:solidFill>
            <a:srgbClr val="F1F5F9"/>
          </a:solidFill>
          <a:ln w="6350">
            <a:solidFill>
              <a:srgbClr val="CBD5E1"/>
            </a:solidFill>
            <a:prstDash val="solid"/>
          </a:ln>
        </p:spPr>
      </p:sp>
      <p:sp>
        <p:nvSpPr>
          <p:cNvPr id="33" name="Text 30"/>
          <p:cNvSpPr txBox="1"/>
          <p:nvPr/>
        </p:nvSpPr>
        <p:spPr>
          <a:xfrm>
            <a:off x="7452360" y="331927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HỖ TRỢ MÁY</a:t>
            </a:r>
            <a:endParaRPr lang="en-US" sz="750" dirty="0"/>
          </a:p>
        </p:txBody>
      </p:sp>
      <p:sp>
        <p:nvSpPr>
          <p:cNvPr id="34" name="Text 31"/>
          <p:cNvSpPr txBox="1"/>
          <p:nvPr/>
        </p:nvSpPr>
        <p:spPr>
          <a:xfrm>
            <a:off x="4343400" y="352044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Tại "Theo dõi máy" ➔ Tìm máy ➔ Bấm "In Sổ theo dõi" (2 trang A4 ngang có mã QR). Nếu làm báo giá thay đồ: Xuất Word .docx 4 trang (gốc + 3 cạnh tranh +3/5/6%).</a:t>
            </a:r>
            <a:endParaRPr lang="en-US" sz="850" dirty="0"/>
          </a:p>
        </p:txBody>
      </p:sp>
      <p:sp>
        <p:nvSpPr>
          <p:cNvPr id="35" name="Shape 32"/>
          <p:cNvSpPr/>
          <p:nvPr/>
        </p:nvSpPr>
        <p:spPr>
          <a:xfrm>
            <a:off x="3840480" y="3977640"/>
            <a:ext cx="4754880" cy="822960"/>
          </a:xfrm>
          <a:prstGeom prst="roundRect">
            <a:avLst>
              <a:gd name="adj" fmla="val 8889"/>
            </a:avLst>
          </a:prstGeom>
          <a:solidFill>
            <a:srgbClr val="FEF2F2"/>
          </a:solidFill>
          <a:ln w="19050">
            <a:solidFill>
              <a:srgbClr val="FECDD3"/>
            </a:solidFill>
            <a:prstDash val="solid"/>
          </a:ln>
        </p:spPr>
      </p:sp>
      <p:sp>
        <p:nvSpPr>
          <p:cNvPr id="36" name="Text 33"/>
          <p:cNvSpPr txBox="1"/>
          <p:nvPr/>
        </p:nvSpPr>
        <p:spPr>
          <a:xfrm>
            <a:off x="3977640" y="4050792"/>
            <a:ext cx="4480560" cy="18288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 3 ĐIỀU TUYỆT ĐỐI CẤM KỴ CỦA VĂN PHÒNG ĐIỀU PHỐI:</a:t>
            </a:r>
            <a:endParaRPr lang="en-US" sz="950" dirty="0"/>
          </a:p>
        </p:txBody>
      </p:sp>
      <p:sp>
        <p:nvSpPr>
          <p:cNvPr id="37" name="Text 34"/>
          <p:cNvSpPr txBox="1"/>
          <p:nvPr/>
        </p:nvSpPr>
        <p:spPr>
          <a:xfrm>
            <a:off x="3977640" y="4251960"/>
            <a:ext cx="4480560" cy="502920"/>
          </a:xfrm>
          <a:prstGeom prst="rect">
            <a:avLst/>
          </a:prstGeom>
          <a:noFill/>
          <a:ln/>
        </p:spPr>
        <p:txBody>
          <a:bodyPr wrap="square" lIns="0" tIns="0" rIns="0" bIns="0" rtlCol="0" anchor="ctr"/>
          <a:lstStyle/>
          <a:p>
            <a:pPr indent="0" marL="0">
              <a:buNone/>
            </a:pPr>
            <a:r>
              <a:rPr lang="en-US" sz="850" dirty="0">
                <a:solidFill>
                  <a:srgbClr val="991B1B"/>
                </a:solidFill>
                <a:latin typeface="Calibri" pitchFamily="34" charset="0"/>
                <a:ea typeface="Calibri" pitchFamily="34" charset="-122"/>
                <a:cs typeface="Calibri" pitchFamily="34" charset="-120"/>
              </a:rPr>
              <a:t>• Mọi phiếu có vật tư: Cờ Hóa đơn mặc định là FALSE. Không tự ý tick nếu khách chưa đòi HĐ.</a:t>
            </a:r>
            <a:pPr indent="0" marL="0">
              <a:buNone/>
            </a:pPr>
            <a:r>
              <a:rPr lang="en-US" sz="850" dirty="0">
                <a:solidFill>
                  <a:srgbClr val="991B1B"/>
                </a:solidFill>
                <a:latin typeface="Calibri" pitchFamily="34" charset="0"/>
                <a:ea typeface="Calibri" pitchFamily="34" charset="-122"/>
                <a:cs typeface="Calibri" pitchFamily="34" charset="-120"/>
              </a:rPr>
              <a:t>• KHÔNG gõ tay tên khách hàng nếu máy đã có trên hệ thống (bắt buộc tìm theo Mã máy).</a:t>
            </a:r>
            <a:pPr indent="0" marL="0">
              <a:buNone/>
            </a:pPr>
            <a:r>
              <a:rPr lang="en-US" sz="850" dirty="0">
                <a:solidFill>
                  <a:srgbClr val="991B1B"/>
                </a:solidFill>
                <a:latin typeface="Calibri" pitchFamily="34" charset="0"/>
                <a:ea typeface="Calibri" pitchFamily="34" charset="-122"/>
                <a:cs typeface="Calibri" pitchFamily="34" charset="-120"/>
              </a:rPr>
              <a:t>• KHÔNG tự ý ghi nhận hàng về kho (quyền riêng của Admin để bảo vệ số tồn thực tế).</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4114800" cy="22860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HƯỚNG DẪN TÁC NGHIỆP</a:t>
            </a:r>
            <a:endParaRPr lang="en-US" sz="95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600" b="1" dirty="0">
                <a:solidFill>
                  <a:srgbClr val="002B7F"/>
                </a:solidFill>
                <a:latin typeface="Arial" pitchFamily="34" charset="0"/>
                <a:ea typeface="Arial" pitchFamily="34" charset="-122"/>
                <a:cs typeface="Arial" pitchFamily="34" charset="-120"/>
              </a:rPr>
              <a:t>LEAFLET 03: DÀNH CHO KẾ TOÁN HÀNH CHÍNH</a:t>
            </a:r>
            <a:endParaRPr lang="en-US" sz="1600" dirty="0"/>
          </a:p>
        </p:txBody>
      </p:sp>
      <p:sp>
        <p:nvSpPr>
          <p:cNvPr id="4" name="Shape 2"/>
          <p:cNvSpPr/>
          <p:nvPr/>
        </p:nvSpPr>
        <p:spPr>
          <a:xfrm>
            <a:off x="6858000" y="411480"/>
            <a:ext cx="173736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858000" y="411480"/>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KTHC (KẾ TOÁN)</a:t>
            </a:r>
            <a:endParaRPr lang="en-US" sz="900" dirty="0"/>
          </a:p>
        </p:txBody>
      </p:sp>
      <p:pic>
        <p:nvPicPr>
          <p:cNvPr id="6" name="Image 0" descr="D:\Claude Code\App So Cong tac\scripts\pptx-assets\leaflet-kthc.png">    </p:cNvPr>
          <p:cNvPicPr>
            <a:picLocks noChangeAspect="1"/>
          </p:cNvPicPr>
          <p:nvPr/>
        </p:nvPicPr>
        <p:blipFill>
          <a:blip r:embed="rId1"/>
          <a:stretch>
            <a:fillRect/>
          </a:stretch>
        </p:blipFill>
        <p:spPr>
          <a:xfrm>
            <a:off x="548640" y="1051560"/>
            <a:ext cx="3108960" cy="3749040"/>
          </a:xfrm>
          <a:prstGeom prst="rect">
            <a:avLst/>
          </a:prstGeom>
        </p:spPr>
      </p:pic>
      <p:sp>
        <p:nvSpPr>
          <p:cNvPr id="7" name="Shape 4"/>
          <p:cNvSpPr/>
          <p:nvPr/>
        </p:nvSpPr>
        <p:spPr>
          <a:xfrm>
            <a:off x="3840480" y="1051560"/>
            <a:ext cx="4754880" cy="658368"/>
          </a:xfrm>
          <a:prstGeom prst="roundRect">
            <a:avLst>
              <a:gd name="adj" fmla="val 11111"/>
            </a:avLst>
          </a:prstGeom>
          <a:solidFill>
            <a:srgbClr val="FFFFFF"/>
          </a:solidFill>
          <a:ln w="12700">
            <a:solidFill>
              <a:srgbClr val="CBD5E1"/>
            </a:solidFill>
            <a:prstDash val="solid"/>
          </a:ln>
        </p:spPr>
      </p:sp>
      <p:sp>
        <p:nvSpPr>
          <p:cNvPr id="8" name="Shape 5"/>
          <p:cNvSpPr/>
          <p:nvPr/>
        </p:nvSpPr>
        <p:spPr>
          <a:xfrm>
            <a:off x="3950208" y="1161288"/>
            <a:ext cx="320040" cy="320040"/>
          </a:xfrm>
          <a:prstGeom prst="roundRect">
            <a:avLst>
              <a:gd name="adj" fmla="val 17143"/>
            </a:avLst>
          </a:prstGeom>
          <a:solidFill>
            <a:srgbClr val="059669"/>
          </a:solidFill>
          <a:ln/>
        </p:spPr>
      </p:sp>
      <p:sp>
        <p:nvSpPr>
          <p:cNvPr id="9" name="Text 6"/>
          <p:cNvSpPr txBox="1"/>
          <p:nvPr/>
        </p:nvSpPr>
        <p:spPr>
          <a:xfrm>
            <a:off x="3950208" y="116128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7"/>
          <p:cNvSpPr txBox="1"/>
          <p:nvPr/>
        </p:nvSpPr>
        <p:spPr>
          <a:xfrm>
            <a:off x="4343400" y="112471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Nhận bàn giao tại Cột 2 "KT lên HĐ"</a:t>
            </a:r>
            <a:endParaRPr lang="en-US" sz="1000" dirty="0"/>
          </a:p>
        </p:txBody>
      </p:sp>
      <p:sp>
        <p:nvSpPr>
          <p:cNvPr id="11" name="Shape 8"/>
          <p:cNvSpPr/>
          <p:nvPr/>
        </p:nvSpPr>
        <p:spPr>
          <a:xfrm>
            <a:off x="7452360" y="1124712"/>
            <a:ext cx="1051560" cy="182880"/>
          </a:xfrm>
          <a:prstGeom prst="roundRect">
            <a:avLst>
              <a:gd name="adj" fmla="val 20000"/>
            </a:avLst>
          </a:prstGeom>
          <a:solidFill>
            <a:srgbClr val="F1F5F9"/>
          </a:solidFill>
          <a:ln w="6350">
            <a:solidFill>
              <a:srgbClr val="CBD5E1"/>
            </a:solidFill>
            <a:prstDash val="solid"/>
          </a:ln>
        </p:spPr>
      </p:sp>
      <p:sp>
        <p:nvSpPr>
          <p:cNvPr id="12" name="Text 9"/>
          <p:cNvSpPr txBox="1"/>
          <p:nvPr/>
        </p:nvSpPr>
        <p:spPr>
          <a:xfrm>
            <a:off x="7452360" y="112471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KIỂM TRA DỮ LIỆU</a:t>
            </a:r>
            <a:endParaRPr lang="en-US" sz="750" dirty="0"/>
          </a:p>
        </p:txBody>
      </p:sp>
      <p:sp>
        <p:nvSpPr>
          <p:cNvPr id="13" name="Text 10"/>
          <p:cNvSpPr txBox="1"/>
          <p:nvPr/>
        </p:nvSpPr>
        <p:spPr>
          <a:xfrm>
            <a:off x="4343400" y="132588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Soát kỹ Tên công ty, MST, Email, Đơn giá vật tư. Nếu thông tin sai/thiếu ➔ Bấm "Trả lại Cột 1 kèm lý do" để Kỹ thuật sửa (phiếu ở Cột 2 đã bị khóa cứng sửa vật tư).</a:t>
            </a:r>
            <a:endParaRPr lang="en-US" sz="850" dirty="0"/>
          </a:p>
        </p:txBody>
      </p:sp>
      <p:sp>
        <p:nvSpPr>
          <p:cNvPr id="14" name="Shape 11"/>
          <p:cNvSpPr/>
          <p:nvPr/>
        </p:nvSpPr>
        <p:spPr>
          <a:xfrm>
            <a:off x="3840480" y="1783080"/>
            <a:ext cx="4754880" cy="658368"/>
          </a:xfrm>
          <a:prstGeom prst="roundRect">
            <a:avLst>
              <a:gd name="adj" fmla="val 11111"/>
            </a:avLst>
          </a:prstGeom>
          <a:solidFill>
            <a:srgbClr val="FFFFFF"/>
          </a:solidFill>
          <a:ln w="12700">
            <a:solidFill>
              <a:srgbClr val="CBD5E1"/>
            </a:solidFill>
            <a:prstDash val="solid"/>
          </a:ln>
        </p:spPr>
      </p:sp>
      <p:sp>
        <p:nvSpPr>
          <p:cNvPr id="15" name="Shape 12"/>
          <p:cNvSpPr/>
          <p:nvPr/>
        </p:nvSpPr>
        <p:spPr>
          <a:xfrm>
            <a:off x="3950208" y="1892808"/>
            <a:ext cx="320040" cy="320040"/>
          </a:xfrm>
          <a:prstGeom prst="roundRect">
            <a:avLst>
              <a:gd name="adj" fmla="val 17143"/>
            </a:avLst>
          </a:prstGeom>
          <a:solidFill>
            <a:srgbClr val="059669"/>
          </a:solidFill>
          <a:ln/>
        </p:spPr>
      </p:sp>
      <p:sp>
        <p:nvSpPr>
          <p:cNvPr id="16" name="Text 13"/>
          <p:cNvSpPr txBox="1"/>
          <p:nvPr/>
        </p:nvSpPr>
        <p:spPr>
          <a:xfrm>
            <a:off x="3950208" y="189280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4"/>
          <p:cNvSpPr txBox="1"/>
          <p:nvPr/>
        </p:nvSpPr>
        <p:spPr>
          <a:xfrm>
            <a:off x="4343400" y="185623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Xuất file Excel M-invoice 32 cột &amp; Word</a:t>
            </a:r>
            <a:endParaRPr lang="en-US" sz="1000" dirty="0"/>
          </a:p>
        </p:txBody>
      </p:sp>
      <p:sp>
        <p:nvSpPr>
          <p:cNvPr id="18" name="Shape 15"/>
          <p:cNvSpPr/>
          <p:nvPr/>
        </p:nvSpPr>
        <p:spPr>
          <a:xfrm>
            <a:off x="7452360" y="1856232"/>
            <a:ext cx="1051560" cy="182880"/>
          </a:xfrm>
          <a:prstGeom prst="roundRect">
            <a:avLst>
              <a:gd name="adj" fmla="val 20000"/>
            </a:avLst>
          </a:prstGeom>
          <a:solidFill>
            <a:srgbClr val="F1F5F9"/>
          </a:solidFill>
          <a:ln w="6350">
            <a:solidFill>
              <a:srgbClr val="CBD5E1"/>
            </a:solidFill>
            <a:prstDash val="solid"/>
          </a:ln>
        </p:spPr>
      </p:sp>
      <p:sp>
        <p:nvSpPr>
          <p:cNvPr id="19" name="Text 16"/>
          <p:cNvSpPr txBox="1"/>
          <p:nvPr/>
        </p:nvSpPr>
        <p:spPr>
          <a:xfrm>
            <a:off x="7452360" y="185623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XUẤT CHỨNG TỪ</a:t>
            </a:r>
            <a:endParaRPr lang="en-US" sz="750" dirty="0"/>
          </a:p>
        </p:txBody>
      </p:sp>
      <p:sp>
        <p:nvSpPr>
          <p:cNvPr id="20" name="Text 17"/>
          <p:cNvSpPr txBox="1"/>
          <p:nvPr/>
        </p:nvSpPr>
        <p:spPr>
          <a:xfrm>
            <a:off x="4343400" y="205740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Bấm nút "Xuất M-invoice (32 cột)" ➔ Import trực tiếp vào phần mềm M-invoice. Đồng thời bấm nút xuất Word "Biên bản bàn giao" và "Đề nghị thanh toán" in ký gửi khách.</a:t>
            </a:r>
            <a:endParaRPr lang="en-US" sz="850" dirty="0"/>
          </a:p>
        </p:txBody>
      </p:sp>
      <p:sp>
        <p:nvSpPr>
          <p:cNvPr id="21" name="Shape 18"/>
          <p:cNvSpPr/>
          <p:nvPr/>
        </p:nvSpPr>
        <p:spPr>
          <a:xfrm>
            <a:off x="3840480" y="2514600"/>
            <a:ext cx="4754880" cy="658368"/>
          </a:xfrm>
          <a:prstGeom prst="roundRect">
            <a:avLst>
              <a:gd name="adj" fmla="val 11111"/>
            </a:avLst>
          </a:prstGeom>
          <a:solidFill>
            <a:srgbClr val="FFFFFF"/>
          </a:solidFill>
          <a:ln w="12700">
            <a:solidFill>
              <a:srgbClr val="CBD5E1"/>
            </a:solidFill>
            <a:prstDash val="solid"/>
          </a:ln>
        </p:spPr>
      </p:sp>
      <p:sp>
        <p:nvSpPr>
          <p:cNvPr id="22" name="Shape 19"/>
          <p:cNvSpPr/>
          <p:nvPr/>
        </p:nvSpPr>
        <p:spPr>
          <a:xfrm>
            <a:off x="3950208" y="2624328"/>
            <a:ext cx="320040" cy="320040"/>
          </a:xfrm>
          <a:prstGeom prst="roundRect">
            <a:avLst>
              <a:gd name="adj" fmla="val 17143"/>
            </a:avLst>
          </a:prstGeom>
          <a:solidFill>
            <a:srgbClr val="059669"/>
          </a:solidFill>
          <a:ln/>
        </p:spPr>
      </p:sp>
      <p:sp>
        <p:nvSpPr>
          <p:cNvPr id="23" name="Text 20"/>
          <p:cNvSpPr txBox="1"/>
          <p:nvPr/>
        </p:nvSpPr>
        <p:spPr>
          <a:xfrm>
            <a:off x="3950208" y="262432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4" name="Text 21"/>
          <p:cNvSpPr txBox="1"/>
          <p:nvPr/>
        </p:nvSpPr>
        <p:spPr>
          <a:xfrm>
            <a:off x="4343400" y="258775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Nhập Số HĐ thật ➔ Sang Cột 3 "Chờ thanh toán"</a:t>
            </a:r>
            <a:endParaRPr lang="en-US" sz="1000" dirty="0"/>
          </a:p>
        </p:txBody>
      </p:sp>
      <p:sp>
        <p:nvSpPr>
          <p:cNvPr id="25" name="Shape 22"/>
          <p:cNvSpPr/>
          <p:nvPr/>
        </p:nvSpPr>
        <p:spPr>
          <a:xfrm>
            <a:off x="7452360" y="2587752"/>
            <a:ext cx="1051560" cy="182880"/>
          </a:xfrm>
          <a:prstGeom prst="roundRect">
            <a:avLst>
              <a:gd name="adj" fmla="val 20000"/>
            </a:avLst>
          </a:prstGeom>
          <a:solidFill>
            <a:srgbClr val="F1F5F9"/>
          </a:solidFill>
          <a:ln w="6350">
            <a:solidFill>
              <a:srgbClr val="CBD5E1"/>
            </a:solidFill>
            <a:prstDash val="solid"/>
          </a:ln>
        </p:spPr>
      </p:sp>
      <p:sp>
        <p:nvSpPr>
          <p:cNvPr id="26" name="Text 23"/>
          <p:cNvSpPr txBox="1"/>
          <p:nvPr/>
        </p:nvSpPr>
        <p:spPr>
          <a:xfrm>
            <a:off x="7452360" y="258775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CHỐT SỐ HÓA ĐƠN</a:t>
            </a:r>
            <a:endParaRPr lang="en-US" sz="750" dirty="0"/>
          </a:p>
        </p:txBody>
      </p:sp>
      <p:sp>
        <p:nvSpPr>
          <p:cNvPr id="27" name="Text 24"/>
          <p:cNvSpPr txBox="1"/>
          <p:nvPr/>
        </p:nvSpPr>
        <p:spPr>
          <a:xfrm>
            <a:off x="4343400" y="278892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Sau khi có số hóa đơn điện tử chính thức từ M-invoice ➔ Bấm nút "Nhập số HĐ" (VD: 0012489) ➔ Thẻ tự động chuyển sang Cột 3. Cơ chế neo số HĐ ngăn chặn xuất đúp 100%.</a:t>
            </a:r>
            <a:endParaRPr lang="en-US" sz="850" dirty="0"/>
          </a:p>
        </p:txBody>
      </p:sp>
      <p:sp>
        <p:nvSpPr>
          <p:cNvPr id="28" name="Shape 25"/>
          <p:cNvSpPr/>
          <p:nvPr/>
        </p:nvSpPr>
        <p:spPr>
          <a:xfrm>
            <a:off x="3840480" y="3246120"/>
            <a:ext cx="4754880" cy="658368"/>
          </a:xfrm>
          <a:prstGeom prst="roundRect">
            <a:avLst>
              <a:gd name="adj" fmla="val 11111"/>
            </a:avLst>
          </a:prstGeom>
          <a:solidFill>
            <a:srgbClr val="FFFFFF"/>
          </a:solidFill>
          <a:ln w="12700">
            <a:solidFill>
              <a:srgbClr val="CBD5E1"/>
            </a:solidFill>
            <a:prstDash val="solid"/>
          </a:ln>
        </p:spPr>
      </p:sp>
      <p:sp>
        <p:nvSpPr>
          <p:cNvPr id="29" name="Shape 26"/>
          <p:cNvSpPr/>
          <p:nvPr/>
        </p:nvSpPr>
        <p:spPr>
          <a:xfrm>
            <a:off x="3950208" y="3355848"/>
            <a:ext cx="320040" cy="320040"/>
          </a:xfrm>
          <a:prstGeom prst="roundRect">
            <a:avLst>
              <a:gd name="adj" fmla="val 17143"/>
            </a:avLst>
          </a:prstGeom>
          <a:solidFill>
            <a:srgbClr val="059669"/>
          </a:solidFill>
          <a:ln/>
        </p:spPr>
      </p:sp>
      <p:sp>
        <p:nvSpPr>
          <p:cNvPr id="30" name="Text 27"/>
          <p:cNvSpPr txBox="1"/>
          <p:nvPr/>
        </p:nvSpPr>
        <p:spPr>
          <a:xfrm>
            <a:off x="3950208" y="335584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4343400" y="331927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Ghi nhận tiền thu ➔ Cột 4 "Đã thanh toán"</a:t>
            </a:r>
            <a:endParaRPr lang="en-US" sz="1000" dirty="0"/>
          </a:p>
        </p:txBody>
      </p:sp>
      <p:sp>
        <p:nvSpPr>
          <p:cNvPr id="32" name="Shape 29"/>
          <p:cNvSpPr/>
          <p:nvPr/>
        </p:nvSpPr>
        <p:spPr>
          <a:xfrm>
            <a:off x="7452360" y="3319272"/>
            <a:ext cx="1051560" cy="182880"/>
          </a:xfrm>
          <a:prstGeom prst="roundRect">
            <a:avLst>
              <a:gd name="adj" fmla="val 20000"/>
            </a:avLst>
          </a:prstGeom>
          <a:solidFill>
            <a:srgbClr val="F1F5F9"/>
          </a:solidFill>
          <a:ln w="6350">
            <a:solidFill>
              <a:srgbClr val="CBD5E1"/>
            </a:solidFill>
            <a:prstDash val="solid"/>
          </a:ln>
        </p:spPr>
      </p:sp>
      <p:sp>
        <p:nvSpPr>
          <p:cNvPr id="33" name="Text 30"/>
          <p:cNvSpPr txBox="1"/>
          <p:nvPr/>
        </p:nvSpPr>
        <p:spPr>
          <a:xfrm>
            <a:off x="7452360" y="331927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THU HỒI CÔNG NỢ</a:t>
            </a:r>
            <a:endParaRPr lang="en-US" sz="750" dirty="0"/>
          </a:p>
        </p:txBody>
      </p:sp>
      <p:sp>
        <p:nvSpPr>
          <p:cNvPr id="34" name="Text 31"/>
          <p:cNvSpPr txBox="1"/>
          <p:nvPr/>
        </p:nvSpPr>
        <p:spPr>
          <a:xfrm>
            <a:off x="4343400" y="352044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Quan sát Banner đỏ trên Header để đòi nợ quá hạn &gt; 7, 15, 30 ngày. Bấm "Thu tiền" ghi nhận lũy kế. Khi thu đủ 100% ➔ Thẻ tự động nhảy sang Cột 4 Đã thanh toán.</a:t>
            </a:r>
            <a:endParaRPr lang="en-US" sz="850" dirty="0"/>
          </a:p>
        </p:txBody>
      </p:sp>
      <p:sp>
        <p:nvSpPr>
          <p:cNvPr id="35" name="Shape 32"/>
          <p:cNvSpPr/>
          <p:nvPr/>
        </p:nvSpPr>
        <p:spPr>
          <a:xfrm>
            <a:off x="3840480" y="3977640"/>
            <a:ext cx="4754880" cy="822960"/>
          </a:xfrm>
          <a:prstGeom prst="roundRect">
            <a:avLst>
              <a:gd name="adj" fmla="val 8889"/>
            </a:avLst>
          </a:prstGeom>
          <a:solidFill>
            <a:srgbClr val="FEF2F2"/>
          </a:solidFill>
          <a:ln w="19050">
            <a:solidFill>
              <a:srgbClr val="FECDD3"/>
            </a:solidFill>
            <a:prstDash val="solid"/>
          </a:ln>
        </p:spPr>
      </p:sp>
      <p:sp>
        <p:nvSpPr>
          <p:cNvPr id="36" name="Text 33"/>
          <p:cNvSpPr txBox="1"/>
          <p:nvPr/>
        </p:nvSpPr>
        <p:spPr>
          <a:xfrm>
            <a:off x="3977640" y="4050792"/>
            <a:ext cx="4480560" cy="18288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 3 ĐIỀU TUYỆT ĐỐI CẤM KỴ CỦA KẾ TOÁN HÀNH CHÍNH:</a:t>
            </a:r>
            <a:endParaRPr lang="en-US" sz="950" dirty="0"/>
          </a:p>
        </p:txBody>
      </p:sp>
      <p:sp>
        <p:nvSpPr>
          <p:cNvPr id="37" name="Text 34"/>
          <p:cNvSpPr txBox="1"/>
          <p:nvPr/>
        </p:nvSpPr>
        <p:spPr>
          <a:xfrm>
            <a:off x="3977640" y="4251960"/>
            <a:ext cx="4480560" cy="502920"/>
          </a:xfrm>
          <a:prstGeom prst="rect">
            <a:avLst/>
          </a:prstGeom>
          <a:noFill/>
          <a:ln/>
        </p:spPr>
        <p:txBody>
          <a:bodyPr wrap="square" lIns="0" tIns="0" rIns="0" bIns="0" rtlCol="0" anchor="ctr"/>
          <a:lstStyle/>
          <a:p>
            <a:pPr indent="0" marL="0">
              <a:buNone/>
            </a:pPr>
            <a:r>
              <a:rPr lang="en-US" sz="850" dirty="0">
                <a:solidFill>
                  <a:srgbClr val="991B1B"/>
                </a:solidFill>
                <a:latin typeface="Calibri" pitchFamily="34" charset="0"/>
                <a:ea typeface="Calibri" pitchFamily="34" charset="-122"/>
                <a:cs typeface="Calibri" pitchFamily="34" charset="-120"/>
              </a:rPr>
              <a:t>• KHÔNG sửa tay tên/giá vật tư khi thẻ ở Cột 2 (dữ liệu đã khóa, sai bấm Trả Cột 1).</a:t>
            </a:r>
            <a:pPr indent="0" marL="0">
              <a:buNone/>
            </a:pPr>
            <a:r>
              <a:rPr lang="en-US" sz="850" dirty="0">
                <a:solidFill>
                  <a:srgbClr val="991B1B"/>
                </a:solidFill>
                <a:latin typeface="Calibri" pitchFamily="34" charset="0"/>
                <a:ea typeface="Calibri" pitchFamily="34" charset="-122"/>
                <a:cs typeface="Calibri" pitchFamily="34" charset="-120"/>
              </a:rPr>
              <a:t>• Bắt buộc nhập số HĐ thật mới sang được Cột 3 (tránh xuất trùng đúp hóa đơn).</a:t>
            </a:r>
            <a:pPr indent="0" marL="0">
              <a:buNone/>
            </a:pPr>
            <a:r>
              <a:rPr lang="en-US" sz="850" dirty="0">
                <a:solidFill>
                  <a:srgbClr val="991B1B"/>
                </a:solidFill>
                <a:latin typeface="Calibri" pitchFamily="34" charset="0"/>
                <a:ea typeface="Calibri" pitchFamily="34" charset="-122"/>
                <a:cs typeface="Calibri" pitchFamily="34" charset="-120"/>
              </a:rPr>
              <a:t>• KHÔNG ghi nhận thu tiền vượt quá tổng giá trị sau thuế của phiếu.</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4114800" cy="22860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HƯỚNG DẪN TÁC NGHIỆP</a:t>
            </a:r>
            <a:endParaRPr lang="en-US" sz="95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600" b="1" dirty="0">
                <a:solidFill>
                  <a:srgbClr val="002B7F"/>
                </a:solidFill>
                <a:latin typeface="Arial" pitchFamily="34" charset="0"/>
                <a:ea typeface="Arial" pitchFamily="34" charset="-122"/>
                <a:cs typeface="Arial" pitchFamily="34" charset="-120"/>
              </a:rPr>
              <a:t>LEAFLET 04: DÀNH CHO PHÒNG KINH DOANH</a:t>
            </a:r>
            <a:endParaRPr lang="en-US" sz="1600" dirty="0"/>
          </a:p>
        </p:txBody>
      </p:sp>
      <p:sp>
        <p:nvSpPr>
          <p:cNvPr id="4" name="Shape 2"/>
          <p:cNvSpPr/>
          <p:nvPr/>
        </p:nvSpPr>
        <p:spPr>
          <a:xfrm>
            <a:off x="6858000" y="411480"/>
            <a:ext cx="173736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858000" y="411480"/>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KINH_DOANH (SALES)</a:t>
            </a:r>
            <a:endParaRPr lang="en-US" sz="900" dirty="0"/>
          </a:p>
        </p:txBody>
      </p:sp>
      <p:pic>
        <p:nvPicPr>
          <p:cNvPr id="6" name="Image 0" descr="D:\Claude Code\App So Cong tac\scripts\pptx-assets\leaflet-sales.png">    </p:cNvPr>
          <p:cNvPicPr>
            <a:picLocks noChangeAspect="1"/>
          </p:cNvPicPr>
          <p:nvPr/>
        </p:nvPicPr>
        <p:blipFill>
          <a:blip r:embed="rId1"/>
          <a:stretch>
            <a:fillRect/>
          </a:stretch>
        </p:blipFill>
        <p:spPr>
          <a:xfrm>
            <a:off x="548640" y="1051560"/>
            <a:ext cx="3108960" cy="3749040"/>
          </a:xfrm>
          <a:prstGeom prst="rect">
            <a:avLst/>
          </a:prstGeom>
        </p:spPr>
      </p:pic>
      <p:sp>
        <p:nvSpPr>
          <p:cNvPr id="7" name="Shape 4"/>
          <p:cNvSpPr/>
          <p:nvPr/>
        </p:nvSpPr>
        <p:spPr>
          <a:xfrm>
            <a:off x="3840480" y="1051560"/>
            <a:ext cx="4754880" cy="658368"/>
          </a:xfrm>
          <a:prstGeom prst="roundRect">
            <a:avLst>
              <a:gd name="adj" fmla="val 11111"/>
            </a:avLst>
          </a:prstGeom>
          <a:solidFill>
            <a:srgbClr val="FFFFFF"/>
          </a:solidFill>
          <a:ln w="12700">
            <a:solidFill>
              <a:srgbClr val="CBD5E1"/>
            </a:solidFill>
            <a:prstDash val="solid"/>
          </a:ln>
        </p:spPr>
      </p:sp>
      <p:sp>
        <p:nvSpPr>
          <p:cNvPr id="8" name="Shape 5"/>
          <p:cNvSpPr/>
          <p:nvPr/>
        </p:nvSpPr>
        <p:spPr>
          <a:xfrm>
            <a:off x="3950208" y="1161288"/>
            <a:ext cx="320040" cy="320040"/>
          </a:xfrm>
          <a:prstGeom prst="roundRect">
            <a:avLst>
              <a:gd name="adj" fmla="val 17143"/>
            </a:avLst>
          </a:prstGeom>
          <a:solidFill>
            <a:srgbClr val="D97706"/>
          </a:solidFill>
          <a:ln/>
        </p:spPr>
      </p:sp>
      <p:sp>
        <p:nvSpPr>
          <p:cNvPr id="9" name="Text 6"/>
          <p:cNvSpPr txBox="1"/>
          <p:nvPr/>
        </p:nvSpPr>
        <p:spPr>
          <a:xfrm>
            <a:off x="3950208" y="116128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7"/>
          <p:cNvSpPr txBox="1"/>
          <p:nvPr/>
        </p:nvSpPr>
        <p:spPr>
          <a:xfrm>
            <a:off x="4343400" y="112471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Truy cập cổng chuyên biệt /kho-thue</a:t>
            </a:r>
            <a:endParaRPr lang="en-US" sz="1000" dirty="0"/>
          </a:p>
        </p:txBody>
      </p:sp>
      <p:sp>
        <p:nvSpPr>
          <p:cNvPr id="11" name="Shape 8"/>
          <p:cNvSpPr/>
          <p:nvPr/>
        </p:nvSpPr>
        <p:spPr>
          <a:xfrm>
            <a:off x="7452360" y="1124712"/>
            <a:ext cx="1051560" cy="182880"/>
          </a:xfrm>
          <a:prstGeom prst="roundRect">
            <a:avLst>
              <a:gd name="adj" fmla="val 20000"/>
            </a:avLst>
          </a:prstGeom>
          <a:solidFill>
            <a:srgbClr val="F1F5F9"/>
          </a:solidFill>
          <a:ln w="6350">
            <a:solidFill>
              <a:srgbClr val="CBD5E1"/>
            </a:solidFill>
            <a:prstDash val="solid"/>
          </a:ln>
        </p:spPr>
      </p:sp>
      <p:sp>
        <p:nvSpPr>
          <p:cNvPr id="12" name="Text 9"/>
          <p:cNvSpPr txBox="1"/>
          <p:nvPr/>
        </p:nvSpPr>
        <p:spPr>
          <a:xfrm>
            <a:off x="7452360" y="112471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TRUY CẬP</a:t>
            </a:r>
            <a:endParaRPr lang="en-US" sz="750" dirty="0"/>
          </a:p>
        </p:txBody>
      </p:sp>
      <p:sp>
        <p:nvSpPr>
          <p:cNvPr id="13" name="Text 10"/>
          <p:cNvSpPr txBox="1"/>
          <p:nvPr/>
        </p:nvSpPr>
        <p:spPr>
          <a:xfrm>
            <a:off x="4343400" y="132588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Đăng nhập vào link hast-services.vercel.app/kho-thue bằng tài khoản kinh_doanh (Chế độ Read-only bảo vệ dữ liệu). Tuyệt đối KHÔNG đăng nhập vào /admin.</a:t>
            </a:r>
            <a:endParaRPr lang="en-US" sz="850" dirty="0"/>
          </a:p>
        </p:txBody>
      </p:sp>
      <p:sp>
        <p:nvSpPr>
          <p:cNvPr id="14" name="Shape 11"/>
          <p:cNvSpPr/>
          <p:nvPr/>
        </p:nvSpPr>
        <p:spPr>
          <a:xfrm>
            <a:off x="3840480" y="1783080"/>
            <a:ext cx="4754880" cy="658368"/>
          </a:xfrm>
          <a:prstGeom prst="roundRect">
            <a:avLst>
              <a:gd name="adj" fmla="val 11111"/>
            </a:avLst>
          </a:prstGeom>
          <a:solidFill>
            <a:srgbClr val="FFFFFF"/>
          </a:solidFill>
          <a:ln w="12700">
            <a:solidFill>
              <a:srgbClr val="CBD5E1"/>
            </a:solidFill>
            <a:prstDash val="solid"/>
          </a:ln>
        </p:spPr>
      </p:sp>
      <p:sp>
        <p:nvSpPr>
          <p:cNvPr id="15" name="Shape 12"/>
          <p:cNvSpPr/>
          <p:nvPr/>
        </p:nvSpPr>
        <p:spPr>
          <a:xfrm>
            <a:off x="3950208" y="1892808"/>
            <a:ext cx="320040" cy="320040"/>
          </a:xfrm>
          <a:prstGeom prst="roundRect">
            <a:avLst>
              <a:gd name="adj" fmla="val 17143"/>
            </a:avLst>
          </a:prstGeom>
          <a:solidFill>
            <a:srgbClr val="D97706"/>
          </a:solidFill>
          <a:ln/>
        </p:spPr>
      </p:sp>
      <p:sp>
        <p:nvSpPr>
          <p:cNvPr id="16" name="Text 13"/>
          <p:cNvSpPr txBox="1"/>
          <p:nvPr/>
        </p:nvSpPr>
        <p:spPr>
          <a:xfrm>
            <a:off x="3950208" y="189280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4"/>
          <p:cNvSpPr txBox="1"/>
          <p:nvPr/>
        </p:nvSpPr>
        <p:spPr>
          <a:xfrm>
            <a:off x="4343400" y="185623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Lọc danh mục máy thuê theo nhu cầu</a:t>
            </a:r>
            <a:endParaRPr lang="en-US" sz="1000" dirty="0"/>
          </a:p>
        </p:txBody>
      </p:sp>
      <p:sp>
        <p:nvSpPr>
          <p:cNvPr id="18" name="Shape 15"/>
          <p:cNvSpPr/>
          <p:nvPr/>
        </p:nvSpPr>
        <p:spPr>
          <a:xfrm>
            <a:off x="7452360" y="1856232"/>
            <a:ext cx="1051560" cy="182880"/>
          </a:xfrm>
          <a:prstGeom prst="roundRect">
            <a:avLst>
              <a:gd name="adj" fmla="val 20000"/>
            </a:avLst>
          </a:prstGeom>
          <a:solidFill>
            <a:srgbClr val="F1F5F9"/>
          </a:solidFill>
          <a:ln w="6350">
            <a:solidFill>
              <a:srgbClr val="CBD5E1"/>
            </a:solidFill>
            <a:prstDash val="solid"/>
          </a:ln>
        </p:spPr>
      </p:sp>
      <p:sp>
        <p:nvSpPr>
          <p:cNvPr id="19" name="Text 16"/>
          <p:cNvSpPr txBox="1"/>
          <p:nvPr/>
        </p:nvSpPr>
        <p:spPr>
          <a:xfrm>
            <a:off x="7452360" y="185623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TRA CỨU</a:t>
            </a:r>
            <a:endParaRPr lang="en-US" sz="750" dirty="0"/>
          </a:p>
        </p:txBody>
      </p:sp>
      <p:sp>
        <p:nvSpPr>
          <p:cNvPr id="20" name="Text 17"/>
          <p:cNvSpPr txBox="1"/>
          <p:nvPr/>
        </p:nvSpPr>
        <p:spPr>
          <a:xfrm>
            <a:off x="4343400" y="205740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Dùng bộ lọc nhanh: Chọn Hãng (Ricoh / Konica / Xerox) · Dòng máy (Màu / Đen trắng) · Tốc độ in để tìm chính xác model phù hợp với yêu cầu khách hàng.</a:t>
            </a:r>
            <a:endParaRPr lang="en-US" sz="850" dirty="0"/>
          </a:p>
        </p:txBody>
      </p:sp>
      <p:sp>
        <p:nvSpPr>
          <p:cNvPr id="21" name="Shape 18"/>
          <p:cNvSpPr/>
          <p:nvPr/>
        </p:nvSpPr>
        <p:spPr>
          <a:xfrm>
            <a:off x="3840480" y="2514600"/>
            <a:ext cx="4754880" cy="658368"/>
          </a:xfrm>
          <a:prstGeom prst="roundRect">
            <a:avLst>
              <a:gd name="adj" fmla="val 11111"/>
            </a:avLst>
          </a:prstGeom>
          <a:solidFill>
            <a:srgbClr val="FFFFFF"/>
          </a:solidFill>
          <a:ln w="12700">
            <a:solidFill>
              <a:srgbClr val="CBD5E1"/>
            </a:solidFill>
            <a:prstDash val="solid"/>
          </a:ln>
        </p:spPr>
      </p:sp>
      <p:sp>
        <p:nvSpPr>
          <p:cNvPr id="22" name="Shape 19"/>
          <p:cNvSpPr/>
          <p:nvPr/>
        </p:nvSpPr>
        <p:spPr>
          <a:xfrm>
            <a:off x="3950208" y="2624328"/>
            <a:ext cx="320040" cy="320040"/>
          </a:xfrm>
          <a:prstGeom prst="roundRect">
            <a:avLst>
              <a:gd name="adj" fmla="val 17143"/>
            </a:avLst>
          </a:prstGeom>
          <a:solidFill>
            <a:srgbClr val="D97706"/>
          </a:solidFill>
          <a:ln/>
        </p:spPr>
      </p:sp>
      <p:sp>
        <p:nvSpPr>
          <p:cNvPr id="23" name="Text 20"/>
          <p:cNvSpPr txBox="1"/>
          <p:nvPr/>
        </p:nvSpPr>
        <p:spPr>
          <a:xfrm>
            <a:off x="3950208" y="262432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4" name="Text 21"/>
          <p:cNvSpPr txBox="1"/>
          <p:nvPr/>
        </p:nvSpPr>
        <p:spPr>
          <a:xfrm>
            <a:off x="4343400" y="258775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Đọc chuẩn 3 màu trạng thái máy</a:t>
            </a:r>
            <a:endParaRPr lang="en-US" sz="1000" dirty="0"/>
          </a:p>
        </p:txBody>
      </p:sp>
      <p:sp>
        <p:nvSpPr>
          <p:cNvPr id="25" name="Shape 22"/>
          <p:cNvSpPr/>
          <p:nvPr/>
        </p:nvSpPr>
        <p:spPr>
          <a:xfrm>
            <a:off x="7452360" y="2587752"/>
            <a:ext cx="1051560" cy="182880"/>
          </a:xfrm>
          <a:prstGeom prst="roundRect">
            <a:avLst>
              <a:gd name="adj" fmla="val 20000"/>
            </a:avLst>
          </a:prstGeom>
          <a:solidFill>
            <a:srgbClr val="F1F5F9"/>
          </a:solidFill>
          <a:ln w="6350">
            <a:solidFill>
              <a:srgbClr val="CBD5E1"/>
            </a:solidFill>
            <a:prstDash val="solid"/>
          </a:ln>
        </p:spPr>
      </p:sp>
      <p:sp>
        <p:nvSpPr>
          <p:cNvPr id="26" name="Text 23"/>
          <p:cNvSpPr txBox="1"/>
          <p:nvPr/>
        </p:nvSpPr>
        <p:spPr>
          <a:xfrm>
            <a:off x="7452360" y="258775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TÌNH TRẠNG MÁY</a:t>
            </a:r>
            <a:endParaRPr lang="en-US" sz="750" dirty="0"/>
          </a:p>
        </p:txBody>
      </p:sp>
      <p:sp>
        <p:nvSpPr>
          <p:cNvPr id="27" name="Text 24"/>
          <p:cNvSpPr txBox="1"/>
          <p:nvPr/>
        </p:nvSpPr>
        <p:spPr>
          <a:xfrm>
            <a:off x="4343400" y="278892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Sẵn sàng xuất: Máy đã test đẹp, giao ngay trong 24h · 🟡 Đang bảo dưỡng: Đang thay đồ, HỎI TECH_ADMIN ngày xong · 🔴 Đang cho thuê: Không khả dụng.</a:t>
            </a:r>
            <a:endParaRPr lang="en-US" sz="850" dirty="0"/>
          </a:p>
        </p:txBody>
      </p:sp>
      <p:sp>
        <p:nvSpPr>
          <p:cNvPr id="28" name="Shape 25"/>
          <p:cNvSpPr/>
          <p:nvPr/>
        </p:nvSpPr>
        <p:spPr>
          <a:xfrm>
            <a:off x="3840480" y="3246120"/>
            <a:ext cx="4754880" cy="658368"/>
          </a:xfrm>
          <a:prstGeom prst="roundRect">
            <a:avLst>
              <a:gd name="adj" fmla="val 11111"/>
            </a:avLst>
          </a:prstGeom>
          <a:solidFill>
            <a:srgbClr val="FFFFFF"/>
          </a:solidFill>
          <a:ln w="12700">
            <a:solidFill>
              <a:srgbClr val="CBD5E1"/>
            </a:solidFill>
            <a:prstDash val="solid"/>
          </a:ln>
        </p:spPr>
      </p:sp>
      <p:sp>
        <p:nvSpPr>
          <p:cNvPr id="29" name="Shape 26"/>
          <p:cNvSpPr/>
          <p:nvPr/>
        </p:nvSpPr>
        <p:spPr>
          <a:xfrm>
            <a:off x="3950208" y="3355848"/>
            <a:ext cx="320040" cy="320040"/>
          </a:xfrm>
          <a:prstGeom prst="roundRect">
            <a:avLst>
              <a:gd name="adj" fmla="val 17143"/>
            </a:avLst>
          </a:prstGeom>
          <a:solidFill>
            <a:srgbClr val="D97706"/>
          </a:solidFill>
          <a:ln/>
        </p:spPr>
      </p:sp>
      <p:sp>
        <p:nvSpPr>
          <p:cNvPr id="30" name="Text 27"/>
          <p:cNvSpPr txBox="1"/>
          <p:nvPr/>
        </p:nvSpPr>
        <p:spPr>
          <a:xfrm>
            <a:off x="3950208" y="335584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4343400" y="3319272"/>
            <a:ext cx="30175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Bàn giao khi ký xong Hợp đồng mới</a:t>
            </a:r>
            <a:endParaRPr lang="en-US" sz="1000" dirty="0"/>
          </a:p>
        </p:txBody>
      </p:sp>
      <p:sp>
        <p:nvSpPr>
          <p:cNvPr id="32" name="Shape 29"/>
          <p:cNvSpPr/>
          <p:nvPr/>
        </p:nvSpPr>
        <p:spPr>
          <a:xfrm>
            <a:off x="7452360" y="3319272"/>
            <a:ext cx="1051560" cy="182880"/>
          </a:xfrm>
          <a:prstGeom prst="roundRect">
            <a:avLst>
              <a:gd name="adj" fmla="val 20000"/>
            </a:avLst>
          </a:prstGeom>
          <a:solidFill>
            <a:srgbClr val="F1F5F9"/>
          </a:solidFill>
          <a:ln w="6350">
            <a:solidFill>
              <a:srgbClr val="CBD5E1"/>
            </a:solidFill>
            <a:prstDash val="solid"/>
          </a:ln>
        </p:spPr>
      </p:sp>
      <p:sp>
        <p:nvSpPr>
          <p:cNvPr id="33" name="Text 30"/>
          <p:cNvSpPr txBox="1"/>
          <p:nvPr/>
        </p:nvSpPr>
        <p:spPr>
          <a:xfrm>
            <a:off x="7452360" y="3319272"/>
            <a:ext cx="105156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BÀN GIAO MÁY</a:t>
            </a:r>
            <a:endParaRPr lang="en-US" sz="750" dirty="0"/>
          </a:p>
        </p:txBody>
      </p:sp>
      <p:sp>
        <p:nvSpPr>
          <p:cNvPr id="34" name="Text 31"/>
          <p:cNvSpPr txBox="1"/>
          <p:nvPr/>
        </p:nvSpPr>
        <p:spPr>
          <a:xfrm>
            <a:off x="4343400" y="3520440"/>
            <a:ext cx="411480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Chốt model &amp; Seri máy ➔ Gửi thông tin công ty, MST, ngày chốt counter cho Tech_admin để tạo Điểm máy trên app và in dán tem QR code lên thân máy.</a:t>
            </a:r>
            <a:endParaRPr lang="en-US" sz="850" dirty="0"/>
          </a:p>
        </p:txBody>
      </p:sp>
      <p:sp>
        <p:nvSpPr>
          <p:cNvPr id="35" name="Shape 32"/>
          <p:cNvSpPr/>
          <p:nvPr/>
        </p:nvSpPr>
        <p:spPr>
          <a:xfrm>
            <a:off x="3840480" y="3977640"/>
            <a:ext cx="4754880" cy="822960"/>
          </a:xfrm>
          <a:prstGeom prst="roundRect">
            <a:avLst>
              <a:gd name="adj" fmla="val 8889"/>
            </a:avLst>
          </a:prstGeom>
          <a:solidFill>
            <a:srgbClr val="FEF2F2"/>
          </a:solidFill>
          <a:ln w="19050">
            <a:solidFill>
              <a:srgbClr val="FECDD3"/>
            </a:solidFill>
            <a:prstDash val="solid"/>
          </a:ln>
        </p:spPr>
      </p:sp>
      <p:sp>
        <p:nvSpPr>
          <p:cNvPr id="36" name="Text 33"/>
          <p:cNvSpPr txBox="1"/>
          <p:nvPr/>
        </p:nvSpPr>
        <p:spPr>
          <a:xfrm>
            <a:off x="3977640" y="4050792"/>
            <a:ext cx="4480560" cy="18288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 2 ĐIỀU TUYỆT ĐỐI CẤM KỴ CỦA PHÒNG KINH DOANH:</a:t>
            </a:r>
            <a:endParaRPr lang="en-US" sz="950" dirty="0"/>
          </a:p>
        </p:txBody>
      </p:sp>
      <p:sp>
        <p:nvSpPr>
          <p:cNvPr id="37" name="Text 34"/>
          <p:cNvSpPr txBox="1"/>
          <p:nvPr/>
        </p:nvSpPr>
        <p:spPr>
          <a:xfrm>
            <a:off x="3977640" y="4279392"/>
            <a:ext cx="4480560" cy="457200"/>
          </a:xfrm>
          <a:prstGeom prst="rect">
            <a:avLst/>
          </a:prstGeom>
          <a:noFill/>
          <a:ln/>
        </p:spPr>
        <p:txBody>
          <a:bodyPr wrap="square" lIns="0" tIns="0" rIns="0" bIns="0" rtlCol="0" anchor="ctr"/>
          <a:lstStyle/>
          <a:p>
            <a:pPr indent="0" marL="0">
              <a:buNone/>
            </a:pPr>
            <a:r>
              <a:rPr lang="en-US" sz="850" dirty="0">
                <a:solidFill>
                  <a:srgbClr val="991B1B"/>
                </a:solidFill>
                <a:latin typeface="Calibri" pitchFamily="34" charset="0"/>
                <a:ea typeface="Calibri" pitchFamily="34" charset="-122"/>
                <a:cs typeface="Calibri" pitchFamily="34" charset="-120"/>
              </a:rPr>
              <a:t>• KHÔNG tự ý cam kết ngày giao máy khi máy đang "Đang bảo dưỡng" (chưa hỏi Tech_admin).</a:t>
            </a:r>
            <a:pPr indent="0" marL="0">
              <a:buNone/>
            </a:pPr>
            <a:r>
              <a:rPr lang="en-US" sz="850" dirty="0">
                <a:solidFill>
                  <a:srgbClr val="991B1B"/>
                </a:solidFill>
                <a:latin typeface="Calibri" pitchFamily="34" charset="0"/>
                <a:ea typeface="Calibri" pitchFamily="34" charset="-122"/>
                <a:cs typeface="Calibri" pitchFamily="34" charset="-120"/>
              </a:rPr>
              <a:t>• KHÔNG tìm cách vào link /admin để tránh xáo trộn giao diện và phân quyền kỹ thuật.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4114800" cy="228600"/>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KỶ LUẬT HỆ THỐNG</a:t>
            </a:r>
            <a:endParaRPr lang="en-US" sz="95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600" b="1" dirty="0">
                <a:solidFill>
                  <a:srgbClr val="002B7F"/>
                </a:solidFill>
                <a:latin typeface="Arial" pitchFamily="34" charset="0"/>
                <a:ea typeface="Arial" pitchFamily="34" charset="-122"/>
                <a:cs typeface="Arial" pitchFamily="34" charset="-120"/>
              </a:rPr>
              <a:t>LEAFLET 05: BẢNG VÀNG QUY TẮC BẮT BUỘC (DO'S &amp; DON'TS)</a:t>
            </a:r>
            <a:endParaRPr lang="en-US" sz="1600" dirty="0"/>
          </a:p>
        </p:txBody>
      </p:sp>
      <p:sp>
        <p:nvSpPr>
          <p:cNvPr id="4" name="Shape 2"/>
          <p:cNvSpPr/>
          <p:nvPr/>
        </p:nvSpPr>
        <p:spPr>
          <a:xfrm>
            <a:off x="6858000" y="411480"/>
            <a:ext cx="173736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858000" y="411480"/>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TOÀN BỘ CBNV HAST</a:t>
            </a:r>
            <a:endParaRPr lang="en-US" sz="900" dirty="0"/>
          </a:p>
        </p:txBody>
      </p:sp>
      <p:pic>
        <p:nvPicPr>
          <p:cNvPr id="6" name="Image 0" descr="D:\Claude Code\App So Cong tac\scripts\pptx-assets\leaflet-dodont.png">    </p:cNvPr>
          <p:cNvPicPr>
            <a:picLocks noChangeAspect="1"/>
          </p:cNvPicPr>
          <p:nvPr/>
        </p:nvPicPr>
        <p:blipFill>
          <a:blip r:embed="rId1"/>
          <a:stretch>
            <a:fillRect/>
          </a:stretch>
        </p:blipFill>
        <p:spPr>
          <a:xfrm>
            <a:off x="548640" y="1051560"/>
            <a:ext cx="3108960" cy="3749040"/>
          </a:xfrm>
          <a:prstGeom prst="rect">
            <a:avLst/>
          </a:prstGeom>
        </p:spPr>
      </p:pic>
      <p:sp>
        <p:nvSpPr>
          <p:cNvPr id="7" name="Shape 4"/>
          <p:cNvSpPr/>
          <p:nvPr/>
        </p:nvSpPr>
        <p:spPr>
          <a:xfrm>
            <a:off x="3840480" y="1051560"/>
            <a:ext cx="4754880" cy="1783080"/>
          </a:xfrm>
          <a:prstGeom prst="roundRect">
            <a:avLst>
              <a:gd name="adj" fmla="val 4103"/>
            </a:avLst>
          </a:prstGeom>
          <a:solidFill>
            <a:srgbClr val="F0FDF4"/>
          </a:solidFill>
          <a:ln w="19050">
            <a:solidFill>
              <a:srgbClr val="86EFAC"/>
            </a:solidFill>
            <a:prstDash val="solid"/>
          </a:ln>
        </p:spPr>
      </p:sp>
      <p:sp>
        <p:nvSpPr>
          <p:cNvPr id="8" name="Text 5"/>
          <p:cNvSpPr txBox="1"/>
          <p:nvPr/>
        </p:nvSpPr>
        <p:spPr>
          <a:xfrm>
            <a:off x="3977640" y="1143000"/>
            <a:ext cx="4480560" cy="228600"/>
          </a:xfrm>
          <a:prstGeom prst="rect">
            <a:avLst/>
          </a:prstGeom>
          <a:noFill/>
          <a:ln/>
        </p:spPr>
        <p:txBody>
          <a:bodyPr wrap="square" lIns="0" tIns="0" rIns="0" bIns="0" rtlCol="0" anchor="ctr"/>
          <a:lstStyle/>
          <a:p>
            <a:pPr indent="0" marL="0">
              <a:buNone/>
            </a:pPr>
            <a:r>
              <a:rPr lang="en-US" sz="1050" b="1" dirty="0">
                <a:solidFill>
                  <a:srgbClr val="059669"/>
                </a:solidFill>
                <a:latin typeface="Arial" pitchFamily="34" charset="0"/>
                <a:ea typeface="Arial" pitchFamily="34" charset="-122"/>
                <a:cs typeface="Arial" pitchFamily="34" charset="-120"/>
              </a:rPr>
              <a:t>✓ 3 QUY TẮC VÀNG BẮT BUỘC THỰC HIỆN (MUST-DO):</a:t>
            </a:r>
            <a:endParaRPr lang="en-US" sz="1050" dirty="0"/>
          </a:p>
        </p:txBody>
      </p:sp>
      <p:sp>
        <p:nvSpPr>
          <p:cNvPr id="9" name="Text 6"/>
          <p:cNvSpPr txBox="1"/>
          <p:nvPr/>
        </p:nvSpPr>
        <p:spPr>
          <a:xfrm>
            <a:off x="3977640" y="1417320"/>
            <a:ext cx="4480560" cy="1325880"/>
          </a:xfrm>
          <a:prstGeom prst="rect">
            <a:avLst/>
          </a:prstGeom>
          <a:noFill/>
          <a:ln/>
        </p:spPr>
        <p:txBody>
          <a:bodyPr wrap="square" lIns="0" tIns="0" rIns="0" bIns="0" rtlCol="0" anchor="ctr"/>
          <a:lstStyle/>
          <a:p>
            <a:pPr indent="0" marL="0">
              <a:buNone/>
            </a:pPr>
            <a:r>
              <a:rPr lang="en-US" sz="850" dirty="0">
                <a:solidFill>
                  <a:srgbClr val="064E3B"/>
                </a:solidFill>
                <a:latin typeface="Calibri" pitchFamily="34" charset="0"/>
                <a:ea typeface="Calibri" pitchFamily="34" charset="-122"/>
                <a:cs typeface="Calibri" pitchFamily="34" charset="-120"/>
              </a:rPr>
              <a:t>1. Luôn CLICK CHUỘT vào nút bấm:</a:t>
            </a:r>
            <a:pPr indent="0" marL="0">
              <a:buNone/>
            </a:pPr>
            <a:r>
              <a:rPr lang="en-US" sz="850" dirty="0">
                <a:solidFill>
                  <a:srgbClr val="064E3B"/>
                </a:solidFill>
                <a:latin typeface="Calibri" pitchFamily="34" charset="0"/>
                <a:ea typeface="Calibri" pitchFamily="34" charset="-122"/>
                <a:cs typeface="Calibri" pitchFamily="34" charset="-120"/>
              </a:rPr>
              <a:t> Hệ thống đã chặn phím Enter/Esc để chống bấm nhầm khi đang load mạng. Mọi thao tác bắt buộc phải click chuột.</a:t>
            </a:r>
            <a:pPr indent="0" marL="0">
              <a:buNone/>
            </a:pPr>
            <a:r>
              <a:rPr lang="en-US" sz="850" dirty="0">
                <a:solidFill>
                  <a:srgbClr val="064E3B"/>
                </a:solidFill>
                <a:latin typeface="Calibri" pitchFamily="34" charset="0"/>
                <a:ea typeface="Calibri" pitchFamily="34" charset="-122"/>
                <a:cs typeface="Calibri" pitchFamily="34" charset="-120"/>
              </a:rPr>
              <a:t>2. Chuẩn hóa Tiền &amp; Ngày tháng:</a:t>
            </a:r>
            <a:pPr indent="0" marL="0">
              <a:buNone/>
            </a:pPr>
            <a:r>
              <a:rPr lang="en-US" sz="850" dirty="0">
                <a:solidFill>
                  <a:srgbClr val="064E3B"/>
                </a:solidFill>
                <a:latin typeface="Calibri" pitchFamily="34" charset="0"/>
                <a:ea typeface="Calibri" pitchFamily="34" charset="-122"/>
                <a:cs typeface="Calibri" pitchFamily="34" charset="-120"/>
              </a:rPr>
              <a:t> Tiền tệ luôn phân tách hàng nghìn bằng dấu chấm (2.500.000 đ); Ngày tháng luôn là DD/MM/YYYY (dùng DateField).</a:t>
            </a:r>
            <a:pPr indent="0" marL="0">
              <a:buNone/>
            </a:pPr>
            <a:r>
              <a:rPr lang="en-US" sz="850" dirty="0">
                <a:solidFill>
                  <a:srgbClr val="064E3B"/>
                </a:solidFill>
                <a:latin typeface="Calibri" pitchFamily="34" charset="0"/>
                <a:ea typeface="Calibri" pitchFamily="34" charset="-122"/>
                <a:cs typeface="Calibri" pitchFamily="34" charset="-120"/>
              </a:rPr>
              <a:t>3. Tải lại trang khi có bản mới:</a:t>
            </a:r>
            <a:pPr indent="0" marL="0">
              <a:buNone/>
            </a:pPr>
            <a:r>
              <a:rPr lang="en-US" sz="850" dirty="0">
                <a:solidFill>
                  <a:srgbClr val="064E3B"/>
                </a:solidFill>
                <a:latin typeface="Calibri" pitchFamily="34" charset="0"/>
                <a:ea typeface="Calibri" pitchFamily="34" charset="-122"/>
                <a:cs typeface="Calibri" pitchFamily="34" charset="-120"/>
              </a:rPr>
              <a:t> Khi thấy thanh thông báo vàng "Có phiên bản mới từ máy chủ" ➔ Click "Tải lại trang" ngay để cập nhật tính năng mới.</a:t>
            </a:r>
            <a:endParaRPr lang="en-US" sz="850" dirty="0"/>
          </a:p>
        </p:txBody>
      </p:sp>
      <p:sp>
        <p:nvSpPr>
          <p:cNvPr id="10" name="Shape 7"/>
          <p:cNvSpPr/>
          <p:nvPr/>
        </p:nvSpPr>
        <p:spPr>
          <a:xfrm>
            <a:off x="3840480" y="2971800"/>
            <a:ext cx="4754880" cy="1828800"/>
          </a:xfrm>
          <a:prstGeom prst="roundRect">
            <a:avLst>
              <a:gd name="adj" fmla="val 4000"/>
            </a:avLst>
          </a:prstGeom>
          <a:solidFill>
            <a:srgbClr val="FEF2F2"/>
          </a:solidFill>
          <a:ln w="19050">
            <a:solidFill>
              <a:srgbClr val="FECDD3"/>
            </a:solidFill>
            <a:prstDash val="solid"/>
          </a:ln>
        </p:spPr>
      </p:sp>
      <p:sp>
        <p:nvSpPr>
          <p:cNvPr id="11" name="Text 8"/>
          <p:cNvSpPr txBox="1"/>
          <p:nvPr/>
        </p:nvSpPr>
        <p:spPr>
          <a:xfrm>
            <a:off x="3977640" y="3063240"/>
            <a:ext cx="4480560" cy="228600"/>
          </a:xfrm>
          <a:prstGeom prst="rect">
            <a:avLst/>
          </a:prstGeom>
          <a:noFill/>
          <a:ln/>
        </p:spPr>
        <p:txBody>
          <a:bodyPr wrap="square" lIns="0" tIns="0" rIns="0" bIns="0" rtlCol="0" anchor="ctr"/>
          <a:lstStyle/>
          <a:p>
            <a:pPr indent="0" marL="0">
              <a:buNone/>
            </a:pPr>
            <a:r>
              <a:rPr lang="en-US" sz="1050" b="1" dirty="0">
                <a:solidFill>
                  <a:srgbClr val="E11D48"/>
                </a:solidFill>
                <a:latin typeface="Arial" pitchFamily="34" charset="0"/>
                <a:ea typeface="Arial" pitchFamily="34" charset="-122"/>
                <a:cs typeface="Arial" pitchFamily="34" charset="-120"/>
              </a:rPr>
              <a:t>✕ 3 ĐIỀU TUYỆT ĐỐI CẤM KỴ (NEVER-DO):</a:t>
            </a:r>
            <a:endParaRPr lang="en-US" sz="1050" dirty="0"/>
          </a:p>
        </p:txBody>
      </p:sp>
      <p:sp>
        <p:nvSpPr>
          <p:cNvPr id="12" name="Text 9"/>
          <p:cNvSpPr txBox="1"/>
          <p:nvPr/>
        </p:nvSpPr>
        <p:spPr>
          <a:xfrm>
            <a:off x="3977640" y="3337560"/>
            <a:ext cx="4480560" cy="1371600"/>
          </a:xfrm>
          <a:prstGeom prst="rect">
            <a:avLst/>
          </a:prstGeom>
          <a:noFill/>
          <a:ln/>
        </p:spPr>
        <p:txBody>
          <a:bodyPr wrap="square" lIns="0" tIns="0" rIns="0" bIns="0" rtlCol="0" anchor="ctr"/>
          <a:lstStyle/>
          <a:p>
            <a:pPr indent="0" marL="0">
              <a:buNone/>
            </a:pPr>
            <a:r>
              <a:rPr lang="en-US" sz="850" dirty="0">
                <a:solidFill>
                  <a:srgbClr val="7F1D1D"/>
                </a:solidFill>
                <a:latin typeface="Calibri" pitchFamily="34" charset="0"/>
                <a:ea typeface="Calibri" pitchFamily="34" charset="-122"/>
                <a:cs typeface="Calibri" pitchFamily="34" charset="-120"/>
              </a:rPr>
              <a:t>1. KHÔNG nhảy cóc quy trình:</a:t>
            </a:r>
            <a:pPr indent="0" marL="0">
              <a:buNone/>
            </a:pPr>
            <a:r>
              <a:rPr lang="en-US" sz="850" dirty="0">
                <a:solidFill>
                  <a:srgbClr val="7F1D1D"/>
                </a:solidFill>
                <a:latin typeface="Calibri" pitchFamily="34" charset="0"/>
                <a:ea typeface="Calibri" pitchFamily="34" charset="-122"/>
                <a:cs typeface="Calibri" pitchFamily="34" charset="-120"/>
              </a:rPr>
              <a:t> KTV chưa bấm Hoàn thành thì cấm lên HĐ; Chưa có số HĐ thật từ M-invoice thì cấm chuyển sang Chờ thanh toán.</a:t>
            </a:r>
            <a:pPr indent="0" marL="0">
              <a:buNone/>
            </a:pPr>
            <a:r>
              <a:rPr lang="en-US" sz="850" dirty="0">
                <a:solidFill>
                  <a:srgbClr val="7F1D1D"/>
                </a:solidFill>
                <a:latin typeface="Calibri" pitchFamily="34" charset="0"/>
                <a:ea typeface="Calibri" pitchFamily="34" charset="-122"/>
                <a:cs typeface="Calibri" pitchFamily="34" charset="-120"/>
              </a:rPr>
              <a:t>2. KHÔNG gõ tay nếu đã có mã máy:</a:t>
            </a:r>
            <a:pPr indent="0" marL="0">
              <a:buNone/>
            </a:pPr>
            <a:r>
              <a:rPr lang="en-US" sz="850" dirty="0">
                <a:solidFill>
                  <a:srgbClr val="7F1D1D"/>
                </a:solidFill>
                <a:latin typeface="Calibri" pitchFamily="34" charset="0"/>
                <a:ea typeface="Calibri" pitchFamily="34" charset="-122"/>
                <a:cs typeface="Calibri" pitchFamily="34" charset="-120"/>
              </a:rPr>
              <a:t> Khi tạo phiếu giao việc, luôn tìm theo Mã máy để hệ thống tự load khách hàng và giữ trọn lịch sử sửa chữa.</a:t>
            </a:r>
            <a:pPr indent="0" marL="0">
              <a:buNone/>
            </a:pPr>
            <a:r>
              <a:rPr lang="en-US" sz="850" dirty="0">
                <a:solidFill>
                  <a:srgbClr val="7F1D1D"/>
                </a:solidFill>
                <a:latin typeface="Calibri" pitchFamily="34" charset="0"/>
                <a:ea typeface="Calibri" pitchFamily="34" charset="-122"/>
                <a:cs typeface="Calibri" pitchFamily="34" charset="-120"/>
              </a:rPr>
              <a:t>3. KHÔNG can thiệp dữ liệu chéo phòng ban:</a:t>
            </a:r>
            <a:pPr indent="0" marL="0">
              <a:buNone/>
            </a:pPr>
            <a:r>
              <a:rPr lang="en-US" sz="850" dirty="0">
                <a:solidFill>
                  <a:srgbClr val="7F1D1D"/>
                </a:solidFill>
                <a:latin typeface="Calibri" pitchFamily="34" charset="0"/>
                <a:ea typeface="Calibri" pitchFamily="34" charset="-122"/>
                <a:cs typeface="Calibri" pitchFamily="34" charset="-120"/>
              </a:rPr>
              <a:t> Kế toán không sửa vật tư kỹ thuật; Văn phòng không tự ghi nhận hàng về; Kinh doanh không tự vào /admin.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7F"/>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365760"/>
          </a:xfrm>
          <a:prstGeom prst="rect">
            <a:avLst/>
          </a:prstGeom>
          <a:noFill/>
          <a:ln/>
        </p:spPr>
        <p:txBody>
          <a:bodyPr wrap="square" lIns="0" tIns="0" rIns="0" bIns="0" rtlCol="0" anchor="ctr"/>
          <a:lstStyle/>
          <a:p>
            <a:pPr indent="0" marL="0">
              <a:buNone/>
            </a:pPr>
            <a:r>
              <a:rPr lang="en-US" sz="1600" b="1" dirty="0">
                <a:solidFill>
                  <a:srgbClr val="FF2A54"/>
                </a:solidFill>
                <a:latin typeface="Arial" pitchFamily="34" charset="0"/>
                <a:ea typeface="Arial" pitchFamily="34" charset="-122"/>
                <a:cs typeface="Arial" pitchFamily="34" charset="-120"/>
              </a:rPr>
              <a:t>TỔNG KẾT ĐƯỜNG DẪN TRUY CẬP &amp; HỖ TRỢ KỸ THUẬT NỘI BỘ</a:t>
            </a:r>
            <a:endParaRPr lang="en-US" sz="1600" dirty="0"/>
          </a:p>
        </p:txBody>
      </p:sp>
      <p:sp>
        <p:nvSpPr>
          <p:cNvPr id="3" name="Shape 1"/>
          <p:cNvSpPr/>
          <p:nvPr/>
        </p:nvSpPr>
        <p:spPr>
          <a:xfrm>
            <a:off x="640080" y="960120"/>
            <a:ext cx="7863840" cy="685800"/>
          </a:xfrm>
          <a:prstGeom prst="roundRect">
            <a:avLst>
              <a:gd name="adj" fmla="val 10667"/>
            </a:avLst>
          </a:prstGeom>
          <a:solidFill>
            <a:srgbClr val="0A2558"/>
          </a:solidFill>
          <a:ln w="12700">
            <a:solidFill>
              <a:srgbClr val="1E40AF"/>
            </a:solidFill>
            <a:prstDash val="solid"/>
          </a:ln>
        </p:spPr>
      </p:sp>
      <p:sp>
        <p:nvSpPr>
          <p:cNvPr id="4" name="Text 2"/>
          <p:cNvSpPr txBox="1"/>
          <p:nvPr/>
        </p:nvSpPr>
        <p:spPr>
          <a:xfrm>
            <a:off x="822960" y="1033272"/>
            <a:ext cx="3840480" cy="201168"/>
          </a:xfrm>
          <a:prstGeom prst="rect">
            <a:avLst/>
          </a:prstGeom>
          <a:noFill/>
          <a:ln/>
        </p:spPr>
        <p:txBody>
          <a:bodyPr wrap="square" lIns="0" tIns="0" rIns="0" bIns="0" rtlCol="0" anchor="ctr"/>
          <a:lstStyle/>
          <a:p>
            <a:pPr indent="0" marL="0">
              <a:buNone/>
            </a:pPr>
            <a:r>
              <a:rPr lang="en-US" sz="1000" b="1" dirty="0">
                <a:solidFill>
                  <a:srgbClr val="FF2A54"/>
                </a:solidFill>
                <a:latin typeface="Arial" pitchFamily="34" charset="0"/>
                <a:ea typeface="Arial" pitchFamily="34" charset="-122"/>
                <a:cs typeface="Arial" pitchFamily="34" charset="-120"/>
              </a:rPr>
              <a:t>KỸ THUẬT HIỆN TRƯỜNG (KTV)</a:t>
            </a:r>
            <a:endParaRPr lang="en-US" sz="1000" dirty="0"/>
          </a:p>
        </p:txBody>
      </p:sp>
      <p:sp>
        <p:nvSpPr>
          <p:cNvPr id="5" name="Text 3"/>
          <p:cNvSpPr txBox="1"/>
          <p:nvPr/>
        </p:nvSpPr>
        <p:spPr>
          <a:xfrm>
            <a:off x="4663440" y="1033272"/>
            <a:ext cx="3657600" cy="201168"/>
          </a:xfrm>
          <a:prstGeom prst="rect">
            <a:avLst/>
          </a:prstGeom>
          <a:noFill/>
          <a:ln/>
        </p:spPr>
        <p:txBody>
          <a:bodyPr wrap="square" lIns="0" tIns="0" rIns="0" bIns="0" rtlCol="0" anchor="ctr"/>
          <a:lstStyle/>
          <a:p>
            <a:pPr algn="r" indent="0" marL="0">
              <a:buNone/>
            </a:pPr>
            <a:r>
              <a:rPr lang="en-US" sz="950" b="1" dirty="0">
                <a:solidFill>
                  <a:srgbClr val="FFFFFF"/>
                </a:solidFill>
                <a:latin typeface="Courier" pitchFamily="34" charset="0"/>
                <a:ea typeface="Courier" pitchFamily="34" charset="-122"/>
                <a:cs typeface="Courier" pitchFamily="34" charset="-120"/>
              </a:rPr>
              <a:t>hast-services.vercel.app/ktv</a:t>
            </a:r>
            <a:endParaRPr lang="en-US" sz="950" dirty="0"/>
          </a:p>
        </p:txBody>
      </p:sp>
      <p:sp>
        <p:nvSpPr>
          <p:cNvPr id="6" name="Text 4"/>
          <p:cNvSpPr txBox="1"/>
          <p:nvPr/>
        </p:nvSpPr>
        <p:spPr>
          <a:xfrm>
            <a:off x="822960" y="1252728"/>
            <a:ext cx="7498080" cy="34747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Đăng nhập bằng Vân tay / Face ID (Passkey). Add to Home Screen để dùng như app gốc. Nhận việc ➔ Đang làm ➔ Hoàn thành ➔ Báo cáo ngày.</a:t>
            </a:r>
            <a:endParaRPr lang="en-US" sz="850" dirty="0"/>
          </a:p>
        </p:txBody>
      </p:sp>
      <p:sp>
        <p:nvSpPr>
          <p:cNvPr id="7" name="Shape 5"/>
          <p:cNvSpPr/>
          <p:nvPr/>
        </p:nvSpPr>
        <p:spPr>
          <a:xfrm>
            <a:off x="640080" y="1783080"/>
            <a:ext cx="7863840" cy="685800"/>
          </a:xfrm>
          <a:prstGeom prst="roundRect">
            <a:avLst>
              <a:gd name="adj" fmla="val 10667"/>
            </a:avLst>
          </a:prstGeom>
          <a:solidFill>
            <a:srgbClr val="0A2558"/>
          </a:solidFill>
          <a:ln w="12700">
            <a:solidFill>
              <a:srgbClr val="1E40AF"/>
            </a:solidFill>
            <a:prstDash val="solid"/>
          </a:ln>
        </p:spPr>
      </p:sp>
      <p:sp>
        <p:nvSpPr>
          <p:cNvPr id="8" name="Text 6"/>
          <p:cNvSpPr txBox="1"/>
          <p:nvPr/>
        </p:nvSpPr>
        <p:spPr>
          <a:xfrm>
            <a:off x="822960" y="1856232"/>
            <a:ext cx="3840480" cy="201168"/>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VĂN PHÒNG KỸ THUẬT &amp; KHO (TECH_ADMIN / STAFF)</a:t>
            </a:r>
            <a:endParaRPr lang="en-US" sz="1000" dirty="0"/>
          </a:p>
        </p:txBody>
      </p:sp>
      <p:sp>
        <p:nvSpPr>
          <p:cNvPr id="9" name="Text 7"/>
          <p:cNvSpPr txBox="1"/>
          <p:nvPr/>
        </p:nvSpPr>
        <p:spPr>
          <a:xfrm>
            <a:off x="4663440" y="1856232"/>
            <a:ext cx="3657600" cy="201168"/>
          </a:xfrm>
          <a:prstGeom prst="rect">
            <a:avLst/>
          </a:prstGeom>
          <a:noFill/>
          <a:ln/>
        </p:spPr>
        <p:txBody>
          <a:bodyPr wrap="square" lIns="0" tIns="0" rIns="0" bIns="0" rtlCol="0" anchor="ctr"/>
          <a:lstStyle/>
          <a:p>
            <a:pPr algn="r" indent="0" marL="0">
              <a:buNone/>
            </a:pPr>
            <a:r>
              <a:rPr lang="en-US" sz="950" b="1" dirty="0">
                <a:solidFill>
                  <a:srgbClr val="FFFFFF"/>
                </a:solidFill>
                <a:latin typeface="Courier" pitchFamily="34" charset="0"/>
                <a:ea typeface="Courier" pitchFamily="34" charset="-122"/>
                <a:cs typeface="Courier" pitchFamily="34" charset="-120"/>
              </a:rPr>
              <a:t>hast-services.vercel.app/admin</a:t>
            </a:r>
            <a:endParaRPr lang="en-US" sz="950" dirty="0"/>
          </a:p>
        </p:txBody>
      </p:sp>
      <p:sp>
        <p:nvSpPr>
          <p:cNvPr id="10" name="Text 8"/>
          <p:cNvSpPr txBox="1"/>
          <p:nvPr/>
        </p:nvSpPr>
        <p:spPr>
          <a:xfrm>
            <a:off x="822960" y="2075688"/>
            <a:ext cx="7498080" cy="34747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Sổ công tác, Theo dõi máy, Kho hàng. Bắt buộc chọn Mã máy khi tạo phiếu, xem chuông cảnh báo tồn kho và tạo đơn đặt hàng PO nháp.</a:t>
            </a:r>
            <a:endParaRPr lang="en-US" sz="850" dirty="0"/>
          </a:p>
        </p:txBody>
      </p:sp>
      <p:sp>
        <p:nvSpPr>
          <p:cNvPr id="11" name="Shape 9"/>
          <p:cNvSpPr/>
          <p:nvPr/>
        </p:nvSpPr>
        <p:spPr>
          <a:xfrm>
            <a:off x="640080" y="2606040"/>
            <a:ext cx="7863840" cy="685800"/>
          </a:xfrm>
          <a:prstGeom prst="roundRect">
            <a:avLst>
              <a:gd name="adj" fmla="val 10667"/>
            </a:avLst>
          </a:prstGeom>
          <a:solidFill>
            <a:srgbClr val="0A2558"/>
          </a:solidFill>
          <a:ln w="12700">
            <a:solidFill>
              <a:srgbClr val="1E40AF"/>
            </a:solidFill>
            <a:prstDash val="solid"/>
          </a:ln>
        </p:spPr>
      </p:sp>
      <p:sp>
        <p:nvSpPr>
          <p:cNvPr id="12" name="Text 10"/>
          <p:cNvSpPr txBox="1"/>
          <p:nvPr/>
        </p:nvSpPr>
        <p:spPr>
          <a:xfrm>
            <a:off x="822960" y="2679192"/>
            <a:ext cx="3840480" cy="201168"/>
          </a:xfrm>
          <a:prstGeom prst="rect">
            <a:avLst/>
          </a:prstGeom>
          <a:noFill/>
          <a:ln/>
        </p:spPr>
        <p:txBody>
          <a:bodyPr wrap="square" lIns="0" tIns="0" rIns="0" bIns="0" rtlCol="0" anchor="ctr"/>
          <a:lstStyle/>
          <a:p>
            <a:pPr indent="0" marL="0">
              <a:buNone/>
            </a:pPr>
            <a:r>
              <a:rPr lang="en-US" sz="1000" b="1" dirty="0">
                <a:solidFill>
                  <a:srgbClr val="34D399"/>
                </a:solidFill>
                <a:latin typeface="Arial" pitchFamily="34" charset="0"/>
                <a:ea typeface="Arial" pitchFamily="34" charset="-122"/>
                <a:cs typeface="Arial" pitchFamily="34" charset="-120"/>
              </a:rPr>
              <a:t>KẾ TOÁN HÀNH CHÍNH (KTHC)</a:t>
            </a:r>
            <a:endParaRPr lang="en-US" sz="1000" dirty="0"/>
          </a:p>
        </p:txBody>
      </p:sp>
      <p:sp>
        <p:nvSpPr>
          <p:cNvPr id="13" name="Text 11"/>
          <p:cNvSpPr txBox="1"/>
          <p:nvPr/>
        </p:nvSpPr>
        <p:spPr>
          <a:xfrm>
            <a:off x="4663440" y="2679192"/>
            <a:ext cx="3657600" cy="201168"/>
          </a:xfrm>
          <a:prstGeom prst="rect">
            <a:avLst/>
          </a:prstGeom>
          <a:noFill/>
          <a:ln/>
        </p:spPr>
        <p:txBody>
          <a:bodyPr wrap="square" lIns="0" tIns="0" rIns="0" bIns="0" rtlCol="0" anchor="ctr"/>
          <a:lstStyle/>
          <a:p>
            <a:pPr algn="r" indent="0" marL="0">
              <a:buNone/>
            </a:pPr>
            <a:r>
              <a:rPr lang="en-US" sz="950" b="1" dirty="0">
                <a:solidFill>
                  <a:srgbClr val="FFFFFF"/>
                </a:solidFill>
                <a:latin typeface="Courier" pitchFamily="34" charset="0"/>
                <a:ea typeface="Courier" pitchFamily="34" charset="-122"/>
                <a:cs typeface="Courier" pitchFamily="34" charset="-120"/>
              </a:rPr>
              <a:t>hast-services.vercel.app/admin (Tự động vào Kanban Hóa đơn)</a:t>
            </a:r>
            <a:endParaRPr lang="en-US" sz="950" dirty="0"/>
          </a:p>
        </p:txBody>
      </p:sp>
      <p:sp>
        <p:nvSpPr>
          <p:cNvPr id="14" name="Text 12"/>
          <p:cNvSpPr txBox="1"/>
          <p:nvPr/>
        </p:nvSpPr>
        <p:spPr>
          <a:xfrm>
            <a:off x="822960" y="2898648"/>
            <a:ext cx="7498080" cy="34747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Chuyên biệt Bảng Kanban Hóa đơn. Xuất M-invoice 32 cột, xuất Word BBBG/ĐNTT, nhập số HĐ thật, theo dõi tuổi nợ và ghi nhận thu tiền.</a:t>
            </a:r>
            <a:endParaRPr lang="en-US" sz="850" dirty="0"/>
          </a:p>
        </p:txBody>
      </p:sp>
      <p:sp>
        <p:nvSpPr>
          <p:cNvPr id="15" name="Shape 13"/>
          <p:cNvSpPr/>
          <p:nvPr/>
        </p:nvSpPr>
        <p:spPr>
          <a:xfrm>
            <a:off x="640080" y="3429000"/>
            <a:ext cx="7863840" cy="685800"/>
          </a:xfrm>
          <a:prstGeom prst="roundRect">
            <a:avLst>
              <a:gd name="adj" fmla="val 10667"/>
            </a:avLst>
          </a:prstGeom>
          <a:solidFill>
            <a:srgbClr val="0A2558"/>
          </a:solidFill>
          <a:ln w="12700">
            <a:solidFill>
              <a:srgbClr val="1E40AF"/>
            </a:solidFill>
            <a:prstDash val="solid"/>
          </a:ln>
        </p:spPr>
      </p:sp>
      <p:sp>
        <p:nvSpPr>
          <p:cNvPr id="16" name="Text 14"/>
          <p:cNvSpPr txBox="1"/>
          <p:nvPr/>
        </p:nvSpPr>
        <p:spPr>
          <a:xfrm>
            <a:off x="822960" y="3502152"/>
            <a:ext cx="3840480" cy="201168"/>
          </a:xfrm>
          <a:prstGeom prst="rect">
            <a:avLst/>
          </a:prstGeom>
          <a:noFill/>
          <a:ln/>
        </p:spPr>
        <p:txBody>
          <a:bodyPr wrap="square" lIns="0" tIns="0" rIns="0" bIns="0" rtlCol="0" anchor="ctr"/>
          <a:lstStyle/>
          <a:p>
            <a:pPr indent="0" marL="0">
              <a:buNone/>
            </a:pPr>
            <a:r>
              <a:rPr lang="en-US" sz="1000" b="1" dirty="0">
                <a:solidFill>
                  <a:srgbClr val="FBBF24"/>
                </a:solidFill>
                <a:latin typeface="Arial" pitchFamily="34" charset="0"/>
                <a:ea typeface="Arial" pitchFamily="34" charset="-122"/>
                <a:cs typeface="Arial" pitchFamily="34" charset="-120"/>
              </a:rPr>
              <a:t>PHÒNG KINH DOANH (KINH_DOANH)</a:t>
            </a:r>
            <a:endParaRPr lang="en-US" sz="1000" dirty="0"/>
          </a:p>
        </p:txBody>
      </p:sp>
      <p:sp>
        <p:nvSpPr>
          <p:cNvPr id="17" name="Text 15"/>
          <p:cNvSpPr txBox="1"/>
          <p:nvPr/>
        </p:nvSpPr>
        <p:spPr>
          <a:xfrm>
            <a:off x="4663440" y="3502152"/>
            <a:ext cx="3657600" cy="201168"/>
          </a:xfrm>
          <a:prstGeom prst="rect">
            <a:avLst/>
          </a:prstGeom>
          <a:noFill/>
          <a:ln/>
        </p:spPr>
        <p:txBody>
          <a:bodyPr wrap="square" lIns="0" tIns="0" rIns="0" bIns="0" rtlCol="0" anchor="ctr"/>
          <a:lstStyle/>
          <a:p>
            <a:pPr algn="r" indent="0" marL="0">
              <a:buNone/>
            </a:pPr>
            <a:r>
              <a:rPr lang="en-US" sz="950" b="1" dirty="0">
                <a:solidFill>
                  <a:srgbClr val="FFFFFF"/>
                </a:solidFill>
                <a:latin typeface="Courier" pitchFamily="34" charset="0"/>
                <a:ea typeface="Courier" pitchFamily="34" charset="-122"/>
                <a:cs typeface="Courier" pitchFamily="34" charset="-120"/>
              </a:rPr>
              <a:t>hast-services.vercel.app/kho-thue</a:t>
            </a:r>
            <a:endParaRPr lang="en-US" sz="950" dirty="0"/>
          </a:p>
        </p:txBody>
      </p:sp>
      <p:sp>
        <p:nvSpPr>
          <p:cNvPr id="18" name="Text 16"/>
          <p:cNvSpPr txBox="1"/>
          <p:nvPr/>
        </p:nvSpPr>
        <p:spPr>
          <a:xfrm>
            <a:off x="822960" y="3721608"/>
            <a:ext cx="7498080" cy="34747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Tra cứu danh mục máy photocopy sẵn sàng cho thuê / CPC. Phân biệt rõ máy xanh (Sẵn sàng) vs máy vàng (Bảo dưỡng). Cấm truy cập /admin.</a:t>
            </a:r>
            <a:endParaRPr lang="en-US" sz="850" dirty="0"/>
          </a:p>
        </p:txBody>
      </p:sp>
      <p:sp>
        <p:nvSpPr>
          <p:cNvPr id="19" name="Text 17"/>
          <p:cNvSpPr txBox="1"/>
          <p:nvPr/>
        </p:nvSpPr>
        <p:spPr>
          <a:xfrm>
            <a:off x="640080" y="4526280"/>
            <a:ext cx="7863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HỆ THỐNG VẬN HÀNH HAST — ĐÚNG DỮ LIỆU TỪ ĐẦU NGUỒN · VẬN HÀNH CHUẨN XÁC TỪNG GIÂY PHÚT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HAST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HAST — Cẩm Nang Bỏ Túi Hướng Dẫn Tác Nghiệp &amp; Vận Hành Thực Chiến</dc:title>
  <dc:subject>Leaflet Quy Trình Kỹ Thuật, Kế Toán &amp; Kinh Doanh</dc:subject>
  <dc:creator>HAST Tech Team</dc:creator>
  <cp:lastModifiedBy>HAST Tech Team</cp:lastModifiedBy>
  <cp:revision>1</cp:revision>
  <dcterms:created xsi:type="dcterms:W3CDTF">2026-09-13T03:16:20Z</dcterms:created>
  <dcterms:modified xsi:type="dcterms:W3CDTF">2026-09-13T03:16:20Z</dcterms:modified>
</cp:coreProperties>
</file>